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2" r:id="rId2"/>
    <p:sldId id="256" r:id="rId3"/>
    <p:sldId id="265" r:id="rId4"/>
    <p:sldId id="266" r:id="rId5"/>
    <p:sldId id="267" r:id="rId6"/>
    <p:sldId id="268" r:id="rId7"/>
    <p:sldId id="260" r:id="rId8"/>
    <p:sldId id="269" r:id="rId9"/>
    <p:sldId id="270" r:id="rId10"/>
    <p:sldId id="262" r:id="rId11"/>
    <p:sldId id="291" r:id="rId12"/>
    <p:sldId id="292" r:id="rId13"/>
    <p:sldId id="293" r:id="rId14"/>
    <p:sldId id="290" r:id="rId15"/>
    <p:sldId id="263" r:id="rId16"/>
    <p:sldId id="264" r:id="rId17"/>
    <p:sldId id="281" r:id="rId18"/>
    <p:sldId id="271" r:id="rId19"/>
    <p:sldId id="294" r:id="rId20"/>
    <p:sldId id="295" r:id="rId21"/>
    <p:sldId id="296" r:id="rId22"/>
    <p:sldId id="297" r:id="rId23"/>
    <p:sldId id="261" r:id="rId24"/>
    <p:sldId id="298" r:id="rId25"/>
    <p:sldId id="279" r:id="rId26"/>
    <p:sldId id="257" r:id="rId27"/>
    <p:sldId id="258" r:id="rId28"/>
    <p:sldId id="25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91525" autoAdjust="0"/>
  </p:normalViewPr>
  <p:slideViewPr>
    <p:cSldViewPr snapToGrid="0">
      <p:cViewPr varScale="1">
        <p:scale>
          <a:sx n="101" d="100"/>
          <a:sy n="101" d="100"/>
        </p:scale>
        <p:origin x="9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CA909F-F11B-4B4E-944F-795B82F854D5}" type="datetimeFigureOut">
              <a:rPr lang="en-US" smtClean="0"/>
              <a:t>30/03/2026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EEF3F1-0295-4DD7-B30A-320B90F57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93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A1666-116E-8622-8DC6-5215BC46A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74D290-22DB-3F62-5939-12F709D49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888647-020D-F9EB-D3D5-C2233B38A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C3B7A-D059-B544-4CF0-56BDBE9DAA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054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EF3F1-0295-4DD7-B30A-320B90F57D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97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3F724-60DD-285F-5FCF-61D9EC7D4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64B5FE-DC36-6BE8-3012-8C7B0BA82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025129-6660-B374-C2E8-EF4F028AC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7076C-11C3-75C8-49E0-F9E792EAE2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8430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EF3F1-0295-4DD7-B30A-320B90F57DC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147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30813-E15F-E76B-FF7D-C66131B96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355D41-29D7-D18E-0310-305FE7D95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FBABF-6F18-1A81-8305-FFD755A6D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DA9E-A1A2-4A63-86F0-8D46B52E193A}" type="datetimeFigureOut">
              <a:rPr lang="en-US" smtClean="0"/>
              <a:t>30/03/2026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5A2D3-B072-BEB2-69C1-F67D45D5B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9177D-4AE0-2CC9-18AF-D9F80935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87D2-A854-4133-B8F7-915B4186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973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A1354-1BE9-AC0B-B179-EDB165C86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C87F5-51F6-291A-1B56-279795D7B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27BBA-3C12-42D7-6044-E4E132D03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DA9E-A1A2-4A63-86F0-8D46B52E193A}" type="datetimeFigureOut">
              <a:rPr lang="en-US" smtClean="0"/>
              <a:t>30/03/2026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7600A-3E71-C39C-AC70-86AF40431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CE7C4-3318-5D90-2E20-D123E19D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87D2-A854-4133-B8F7-915B4186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8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0B036-0C51-87C8-C150-A938D67A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016A2-C22B-58D5-83C4-E76BF33BD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72B9A-7941-91A7-566D-BF6EDC306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DA9E-A1A2-4A63-86F0-8D46B52E193A}" type="datetimeFigureOut">
              <a:rPr lang="en-US" smtClean="0"/>
              <a:t>30/03/2026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D529-21FC-6C27-A927-000F46A03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E25B3-7142-08C5-B350-38B7360A9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87D2-A854-4133-B8F7-915B4186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50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4233-721B-7CA7-39CE-38603304E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B23F6-A436-3D82-E2B2-3C9F9DD0F8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B63A09-DD97-C577-406C-BBD536F74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C25A0-1821-A841-4791-DFA729736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DA9E-A1A2-4A63-86F0-8D46B52E193A}" type="datetimeFigureOut">
              <a:rPr lang="en-US" smtClean="0"/>
              <a:t>30/03/2026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6DD47-A295-4735-044D-F90A0A02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1DACD-7D64-5545-E70E-87806C71D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87D2-A854-4133-B8F7-915B4186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46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44EEE-1396-057D-D251-25E7C4060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B9697-B5D1-E2D4-56E8-F9CEE3F89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39E1AA-FF09-0843-0EEF-CC6CF78F8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A648A-77AE-9524-B66E-5150273BE6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8A5D77-127F-7624-233E-8B128D430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D3C31B-9F10-BC0D-2818-19ADF98D6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DA9E-A1A2-4A63-86F0-8D46B52E193A}" type="datetimeFigureOut">
              <a:rPr lang="en-US" smtClean="0"/>
              <a:t>30/03/2026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11D4D8-B36C-5A6C-0FEC-1A74D1198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5614EE-ADB0-9483-A0F9-AC05570AA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87D2-A854-4133-B8F7-915B4186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961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BAFB-A4EB-BD2D-4F0E-F571E72F3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C8C316-EB2B-C035-D0CF-3BD1D2D54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DA9E-A1A2-4A63-86F0-8D46B52E193A}" type="datetimeFigureOut">
              <a:rPr lang="en-US" smtClean="0"/>
              <a:t>30/03/2026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E2D7A9-32EC-6A0E-68C4-C4EAC3A9A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BFD51C-B9B5-BD99-E4FF-218768832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87D2-A854-4133-B8F7-915B4186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B7434D-ED59-955C-DDE5-244BF1FE8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DA9E-A1A2-4A63-86F0-8D46B52E193A}" type="datetimeFigureOut">
              <a:rPr lang="en-US" smtClean="0"/>
              <a:t>30/03/2026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508F23-167D-7EAF-069B-CD2DA350A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1BAEC-9E1D-B3C7-5131-DFC797D8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87D2-A854-4133-B8F7-915B4186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372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E6C5-A62D-56DB-97CB-690C25884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4A014-FEFD-B2F3-D756-AB303FD96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11955D-2C66-6FAE-9047-97F65FA34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B48FC-2A7E-287D-E48C-42D83638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DA9E-A1A2-4A63-86F0-8D46B52E193A}" type="datetimeFigureOut">
              <a:rPr lang="en-US" smtClean="0"/>
              <a:t>30/03/2026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94701-50BD-A1CB-5FED-5273443F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8D4C6-DF08-1899-4903-635D86D38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87D2-A854-4133-B8F7-915B4186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74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6C6F6-F8D6-CDF3-3702-F18E5DBA1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2AFA2E-AABE-6CF9-CB25-79FB15AAF7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5D6EB-DD57-8860-EA3E-046EAF9F9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FA61C-6CB1-3A9D-5F02-8CFB508E3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DA9E-A1A2-4A63-86F0-8D46B52E193A}" type="datetimeFigureOut">
              <a:rPr lang="en-US" smtClean="0"/>
              <a:t>30/03/2026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65153-5022-E0BD-D676-7F0CAAD3E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24D1E-9CBA-D99D-14AB-42E947ED5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87D2-A854-4133-B8F7-915B4186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65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8985-E6A5-6646-E4E4-CA0103888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7DA0C-C15B-01EE-9344-83DAA8D5C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F7397-C981-4E74-F67D-D6BF120CE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DA9E-A1A2-4A63-86F0-8D46B52E193A}" type="datetimeFigureOut">
              <a:rPr lang="en-US" smtClean="0"/>
              <a:t>30/03/2026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408D0-C86B-FD69-D1B0-00755AED6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D957A-CE04-5ED1-7B4B-50C205919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87D2-A854-4133-B8F7-915B4186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55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CFFECA-39EE-82D9-2021-A5B425D04D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78723D-AC26-6CC0-CDBB-370E889FE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0A96B-19E6-BCFB-EE3F-3E5952201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DA9E-A1A2-4A63-86F0-8D46B52E193A}" type="datetimeFigureOut">
              <a:rPr lang="en-US" smtClean="0"/>
              <a:t>30/03/2026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AF8DD-E282-2684-36A6-8496707FF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57B7A-0CF6-50CB-52CE-649250CD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A87D2-A854-4133-B8F7-915B4186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05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588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A00965-9698-E0D2-0884-0429086F0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AF157-66C0-C69A-EF49-A8E9EC944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FEB97-2F71-26DD-288B-3056173DAE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1DA9E-A1A2-4A63-86F0-8D46B52E193A}" type="datetimeFigureOut">
              <a:rPr lang="en-US" smtClean="0"/>
              <a:t>30/03/2026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D71B8-C813-0970-33DF-4C35DC96A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7A85E-5575-4A77-EE0B-B4621DC7C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A87D2-A854-4133-B8F7-915B41864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06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DAF40-9818-DF09-7806-575E3A43D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09086E6-FFF3-A3C9-984E-8FA47822F90A}"/>
              </a:ext>
            </a:extLst>
          </p:cNvPr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FBFF99B-8261-464A-43BA-A5CB95A02D8C}"/>
              </a:ext>
            </a:extLst>
          </p:cNvPr>
          <p:cNvSpPr/>
          <p:nvPr/>
        </p:nvSpPr>
        <p:spPr>
          <a:xfrm>
            <a:off x="170688" y="0"/>
            <a:ext cx="12021312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BFC52585-21AC-7569-5C7F-65FE0EBBA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70560"/>
            <a:ext cx="1706880" cy="170688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82703BD-C4FC-6506-436F-0BF797994703}"/>
              </a:ext>
            </a:extLst>
          </p:cNvPr>
          <p:cNvSpPr/>
          <p:nvPr/>
        </p:nvSpPr>
        <p:spPr>
          <a:xfrm>
            <a:off x="670560" y="1036320"/>
            <a:ext cx="902208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</a:t>
            </a:r>
            <a:endParaRPr lang="en-US" sz="5333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C13F5DD-AF30-C6AC-734A-4120CA5DB935}"/>
              </a:ext>
            </a:extLst>
          </p:cNvPr>
          <p:cNvSpPr/>
          <p:nvPr/>
        </p:nvSpPr>
        <p:spPr>
          <a:xfrm>
            <a:off x="670560" y="2145792"/>
            <a:ext cx="902208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333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Project</a:t>
            </a:r>
            <a:endParaRPr lang="en-US" sz="5333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71C6D28-B189-442C-A84D-9E93C7C60326}"/>
              </a:ext>
            </a:extLst>
          </p:cNvPr>
          <p:cNvSpPr/>
          <p:nvPr/>
        </p:nvSpPr>
        <p:spPr>
          <a:xfrm>
            <a:off x="670560" y="3380232"/>
            <a:ext cx="5852160" cy="48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3206423-168E-B766-CBBC-2F13D13AE578}"/>
              </a:ext>
            </a:extLst>
          </p:cNvPr>
          <p:cNvSpPr/>
          <p:nvPr/>
        </p:nvSpPr>
        <p:spPr>
          <a:xfrm>
            <a:off x="1377696" y="4194048"/>
            <a:ext cx="25603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44,650 Customers</a:t>
            </a:r>
            <a:endParaRPr lang="en-US" sz="1733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752CC8A-6E09-08EF-8343-48E344189259}"/>
              </a:ext>
            </a:extLst>
          </p:cNvPr>
          <p:cNvSpPr/>
          <p:nvPr/>
        </p:nvSpPr>
        <p:spPr>
          <a:xfrm>
            <a:off x="5157216" y="4194048"/>
            <a:ext cx="25603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Features</a:t>
            </a:r>
            <a:endParaRPr lang="en-US" sz="1733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351E898C-5EE5-7683-DE4D-1B5977C46832}"/>
              </a:ext>
            </a:extLst>
          </p:cNvPr>
          <p:cNvSpPr/>
          <p:nvPr/>
        </p:nvSpPr>
        <p:spPr>
          <a:xfrm>
            <a:off x="530352" y="401421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Eman Mansour Abdel Halim Barrin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220485D7-7EE2-066B-94E1-790A99CF5016}"/>
              </a:ext>
            </a:extLst>
          </p:cNvPr>
          <p:cNvSpPr/>
          <p:nvPr/>
        </p:nvSpPr>
        <p:spPr>
          <a:xfrm>
            <a:off x="530352" y="4413504"/>
            <a:ext cx="8046720" cy="1530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Yasmeen Ayman  |  Walaa Emad  | Huda Mohamed</a:t>
            </a:r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524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973104-5C20-FE55-A04A-FA5FBBE1A0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" t="10417" r="8422" b="16577"/>
          <a:stretch>
            <a:fillRect/>
          </a:stretch>
        </p:blipFill>
        <p:spPr>
          <a:xfrm>
            <a:off x="610045" y="0"/>
            <a:ext cx="10912934" cy="68579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A27C07-BB1A-B5AD-E9C0-A92518F8B0C6}"/>
              </a:ext>
            </a:extLst>
          </p:cNvPr>
          <p:cNvSpPr txBox="1"/>
          <p:nvPr/>
        </p:nvSpPr>
        <p:spPr>
          <a:xfrm>
            <a:off x="5513220" y="226280"/>
            <a:ext cx="2009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ERD</a:t>
            </a:r>
          </a:p>
        </p:txBody>
      </p:sp>
    </p:spTree>
    <p:extLst>
      <p:ext uri="{BB962C8B-B14F-4D97-AF65-F5344CB8AC3E}">
        <p14:creationId xmlns:p14="http://schemas.microsoft.com/office/powerpoint/2010/main" val="260130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219456" y="0"/>
            <a:ext cx="11972544" cy="9753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975360"/>
            <a:ext cx="109728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6933" dirty="0"/>
          </a:p>
        </p:txBody>
      </p:sp>
      <p:sp>
        <p:nvSpPr>
          <p:cNvPr id="5" name="Text 3"/>
          <p:cNvSpPr/>
          <p:nvPr/>
        </p:nvSpPr>
        <p:spPr>
          <a:xfrm>
            <a:off x="523875" y="559118"/>
            <a:ext cx="10972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67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5867" dirty="0"/>
          </a:p>
        </p:txBody>
      </p:sp>
      <p:sp>
        <p:nvSpPr>
          <p:cNvPr id="6" name="Shape 4"/>
          <p:cNvSpPr/>
          <p:nvPr/>
        </p:nvSpPr>
        <p:spPr>
          <a:xfrm>
            <a:off x="3048000" y="1700213"/>
            <a:ext cx="6096000" cy="609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853440" y="2657475"/>
            <a:ext cx="10485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5-Level layered architecture with full referential integrity
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Cascade &amp; NO ACTION delete rules protect business-critical records
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Unicode support (NVARCHAR) for multilingual data (Arabic &amp; English)
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Computed &amp; PERSISTED columns for real-time performance metrics
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Built-in fraud prevention via Loyalty Trigger &amp; constraint checks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584960" cy="10972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58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706880" y="0"/>
            <a:ext cx="9144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Core / Foundation Tables</a:t>
            </a:r>
            <a:endParaRPr lang="en-US" sz="2933" dirty="0"/>
          </a:p>
        </p:txBody>
      </p:sp>
      <p:sp>
        <p:nvSpPr>
          <p:cNvPr id="6" name="Text 4"/>
          <p:cNvSpPr/>
          <p:nvPr/>
        </p:nvSpPr>
        <p:spPr>
          <a:xfrm>
            <a:off x="1706880" y="670560"/>
            <a:ext cx="9144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 ·  Category  ·  Promotion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3840" y="1280160"/>
            <a:ext cx="6705600" cy="5242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93280" y="1219200"/>
            <a:ext cx="4693920" cy="53888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6"/>
          <p:cNvSpPr/>
          <p:nvPr/>
        </p:nvSpPr>
        <p:spPr>
          <a:xfrm>
            <a:off x="7193280" y="1219200"/>
            <a:ext cx="85344" cy="5388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7"/>
          <p:cNvSpPr/>
          <p:nvPr/>
        </p:nvSpPr>
        <p:spPr>
          <a:xfrm>
            <a:off x="7376160" y="1341120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267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467" dirty="0"/>
          </a:p>
        </p:txBody>
      </p:sp>
      <p:sp>
        <p:nvSpPr>
          <p:cNvPr id="11" name="Text 8"/>
          <p:cNvSpPr/>
          <p:nvPr/>
        </p:nvSpPr>
        <p:spPr>
          <a:xfrm>
            <a:off x="7376160" y="1853184"/>
            <a:ext cx="4413504" cy="451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 for Unicode (Arabic &amp; foreign names)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UNIQUE + pattern validation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Self-referencing Category (parent→child)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PasswordHash naming convention (bcrypt)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Cross-column discount CHECK constraints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dates &amp; usage logic validated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584960" cy="10972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58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706880" y="0"/>
            <a:ext cx="9144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Product &amp; Cart Tables</a:t>
            </a:r>
            <a:endParaRPr lang="en-US" sz="2933" dirty="0"/>
          </a:p>
        </p:txBody>
      </p:sp>
      <p:sp>
        <p:nvSpPr>
          <p:cNvPr id="6" name="Text 4"/>
          <p:cNvSpPr/>
          <p:nvPr/>
        </p:nvSpPr>
        <p:spPr>
          <a:xfrm>
            <a:off x="1706880" y="670560"/>
            <a:ext cx="9144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 ·  Product  ·  Cart  ·  Brand  ·  Size  ·  Color  ·  Variant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3841" y="1280160"/>
            <a:ext cx="2888497" cy="5242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93280" y="1219200"/>
            <a:ext cx="4693920" cy="53888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6"/>
          <p:cNvSpPr/>
          <p:nvPr/>
        </p:nvSpPr>
        <p:spPr>
          <a:xfrm>
            <a:off x="7193280" y="1219200"/>
            <a:ext cx="85344" cy="5388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7"/>
          <p:cNvSpPr/>
          <p:nvPr/>
        </p:nvSpPr>
        <p:spPr>
          <a:xfrm>
            <a:off x="7376160" y="1341120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267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467" dirty="0"/>
          </a:p>
        </p:txBody>
      </p:sp>
      <p:sp>
        <p:nvSpPr>
          <p:cNvPr id="11" name="Text 8"/>
          <p:cNvSpPr/>
          <p:nvPr/>
        </p:nvSpPr>
        <p:spPr>
          <a:xfrm>
            <a:off x="7376160" y="1853184"/>
            <a:ext cx="4413504" cy="451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delete for addresses &amp; cart items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uniqueness enforced (no spaces allowed)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price never exceeds original price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Soft-delete IsActive flag on Brand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ProductVariant bridges Product/Size/Color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statuses: Active / Converted / Abandoned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584960" cy="10972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58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706880" y="0"/>
            <a:ext cx="9144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Images, Promotions &amp; Cart Items</a:t>
            </a:r>
            <a:endParaRPr lang="en-US" sz="2933" dirty="0"/>
          </a:p>
        </p:txBody>
      </p:sp>
      <p:sp>
        <p:nvSpPr>
          <p:cNvPr id="6" name="Text 4"/>
          <p:cNvSpPr/>
          <p:nvPr/>
        </p:nvSpPr>
        <p:spPr>
          <a:xfrm>
            <a:off x="1706880" y="670560"/>
            <a:ext cx="9144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ProductImage  ·  ProductPromotion  ·  CartItem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3840" y="1280160"/>
            <a:ext cx="6705600" cy="5242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93280" y="1219200"/>
            <a:ext cx="4693920" cy="53888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6"/>
          <p:cNvSpPr/>
          <p:nvPr/>
        </p:nvSpPr>
        <p:spPr>
          <a:xfrm>
            <a:off x="7193280" y="1219200"/>
            <a:ext cx="85344" cy="5388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7"/>
          <p:cNvSpPr/>
          <p:nvPr/>
        </p:nvSpPr>
        <p:spPr>
          <a:xfrm>
            <a:off x="7376160" y="1341120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267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467" dirty="0"/>
          </a:p>
        </p:txBody>
      </p:sp>
      <p:sp>
        <p:nvSpPr>
          <p:cNvPr id="11" name="Text 8"/>
          <p:cNvSpPr/>
          <p:nvPr/>
        </p:nvSpPr>
        <p:spPr>
          <a:xfrm>
            <a:off x="7376160" y="1853184"/>
            <a:ext cx="4413504" cy="451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IsPrimary flag controls cover image display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format limited to jpg/png/webp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bridge: Product ↔ Promotion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PK prevents duplicate links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CartItem enforces qty &gt; 0 per variant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CASCADE keeps cart clean on deletions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584960" cy="10972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58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706880" y="0"/>
            <a:ext cx="9144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— Orders &amp; Order Items</a:t>
            </a:r>
            <a:endParaRPr lang="en-US" sz="2933" dirty="0"/>
          </a:p>
        </p:txBody>
      </p:sp>
      <p:sp>
        <p:nvSpPr>
          <p:cNvPr id="6" name="Text 4"/>
          <p:cNvSpPr/>
          <p:nvPr/>
        </p:nvSpPr>
        <p:spPr>
          <a:xfrm>
            <a:off x="1706880" y="670560"/>
            <a:ext cx="9144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 ·  OrderItem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3841" y="1280160"/>
            <a:ext cx="6183532" cy="5242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93280" y="1219200"/>
            <a:ext cx="4693920" cy="53888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6"/>
          <p:cNvSpPr/>
          <p:nvPr/>
        </p:nvSpPr>
        <p:spPr>
          <a:xfrm>
            <a:off x="7193280" y="1219200"/>
            <a:ext cx="85344" cy="5388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7"/>
          <p:cNvSpPr/>
          <p:nvPr/>
        </p:nvSpPr>
        <p:spPr>
          <a:xfrm>
            <a:off x="7376160" y="1341120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267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467" dirty="0"/>
          </a:p>
        </p:txBody>
      </p:sp>
      <p:sp>
        <p:nvSpPr>
          <p:cNvPr id="11" name="Text 8"/>
          <p:cNvSpPr/>
          <p:nvPr/>
        </p:nvSpPr>
        <p:spPr>
          <a:xfrm>
            <a:off x="7376160" y="1853184"/>
            <a:ext cx="4413504" cy="451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PK (OrderID + VariantID)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prevents deleting sold products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column: UnitPriceFinal = Price – Discount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LineTotal stored for fast reporting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check: can't exceed product price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deletes orphan items on order removal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584960" cy="10972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58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706880" y="0"/>
            <a:ext cx="9144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— Fulfilment Tables</a:t>
            </a:r>
            <a:endParaRPr lang="en-US" sz="2933" dirty="0"/>
          </a:p>
        </p:txBody>
      </p:sp>
      <p:sp>
        <p:nvSpPr>
          <p:cNvPr id="6" name="Text 4"/>
          <p:cNvSpPr/>
          <p:nvPr/>
        </p:nvSpPr>
        <p:spPr>
          <a:xfrm>
            <a:off x="1706880" y="670560"/>
            <a:ext cx="9144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OrderStatusHistory  ·  Payment  ·  Shipping  ·  Return  ·  Refund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3841" y="1280160"/>
            <a:ext cx="5893721" cy="5242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93280" y="1219200"/>
            <a:ext cx="4693920" cy="53888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6"/>
          <p:cNvSpPr/>
          <p:nvPr/>
        </p:nvSpPr>
        <p:spPr>
          <a:xfrm>
            <a:off x="7193280" y="1219200"/>
            <a:ext cx="85344" cy="5388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7"/>
          <p:cNvSpPr/>
          <p:nvPr/>
        </p:nvSpPr>
        <p:spPr>
          <a:xfrm>
            <a:off x="7376160" y="1341120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267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467" dirty="0"/>
          </a:p>
        </p:txBody>
      </p:sp>
      <p:sp>
        <p:nvSpPr>
          <p:cNvPr id="11" name="Text 8"/>
          <p:cNvSpPr/>
          <p:nvPr/>
        </p:nvSpPr>
        <p:spPr>
          <a:xfrm>
            <a:off x="7376160" y="1853184"/>
            <a:ext cx="4413504" cy="451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 OldStatus → NewStatus + ChangedBy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TransactionReference (no double payment)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DeliveryDuration for fast queries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CHK_Delivery_After_Shipping logic rule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1-to-1 Return ↔ Refund (no double refunds)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RefundStatus: Pending / Processed / Failed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584960" cy="10972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58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706880" y="0"/>
            <a:ext cx="9144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— Post-Order &amp; Automation</a:t>
            </a:r>
            <a:endParaRPr lang="en-US" sz="2933" dirty="0"/>
          </a:p>
        </p:txBody>
      </p:sp>
      <p:sp>
        <p:nvSpPr>
          <p:cNvPr id="6" name="Text 4"/>
          <p:cNvSpPr/>
          <p:nvPr/>
        </p:nvSpPr>
        <p:spPr>
          <a:xfrm>
            <a:off x="1706880" y="670560"/>
            <a:ext cx="9144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 ·  SupportTicket  ·  LoyaltyPoints  ·  Trigger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3840" y="1280160"/>
            <a:ext cx="4842510" cy="5242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93280" y="1219200"/>
            <a:ext cx="4693920" cy="53888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9" name="Shape 6"/>
          <p:cNvSpPr/>
          <p:nvPr/>
        </p:nvSpPr>
        <p:spPr>
          <a:xfrm>
            <a:off x="7193280" y="1219200"/>
            <a:ext cx="85344" cy="5388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7"/>
          <p:cNvSpPr/>
          <p:nvPr/>
        </p:nvSpPr>
        <p:spPr>
          <a:xfrm>
            <a:off x="7376160" y="1341120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267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467" dirty="0"/>
          </a:p>
        </p:txBody>
      </p:sp>
      <p:sp>
        <p:nvSpPr>
          <p:cNvPr id="11" name="Text 8"/>
          <p:cNvSpPr/>
          <p:nvPr/>
        </p:nvSpPr>
        <p:spPr>
          <a:xfrm>
            <a:off x="7376160" y="1853184"/>
            <a:ext cx="4413504" cy="451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UQ_OrderVariantReview prevents review spam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constrained to 1–5 stars only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SLA_Breached auto-flags tickets at 48 hrs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ResolutionHours for SLA tracking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keeps loyalty history on order delete</a:t>
            </a:r>
            <a:endParaRPr lang="en-US" sz="1600" dirty="0"/>
          </a:p>
          <a:p>
            <a:pPr marL="457189" indent="-457189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reverses points on order cancellation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1161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Bulk Insert — Sample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2880" y="402336"/>
            <a:ext cx="1179576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402336"/>
            <a:ext cx="1417320" cy="11155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420624"/>
            <a:ext cx="1325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LoyaltyTransaction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1655064" y="429768"/>
          <a:ext cx="10305288" cy="1188720"/>
        </p:xfrm>
        <a:graphic>
          <a:graphicData uri="http://schemas.openxmlformats.org/drawingml/2006/table">
            <a:tbl>
              <a:tblPr/>
              <a:tblGrid>
                <a:gridCol w="1472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TxID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CustID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636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37168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54:13.0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Loyalty points added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29:42.0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reward points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82180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56:01.0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Loyalty points added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56393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23:11.0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Loyalty points added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25429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20:57.0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reward points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82880" y="1600200"/>
            <a:ext cx="1179576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82880" y="1600200"/>
            <a:ext cx="1417320" cy="11155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28600" y="1618488"/>
            <a:ext cx="1325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/>
        </p:nvGraphicFramePr>
        <p:xfrm>
          <a:off x="1655064" y="1627632"/>
          <a:ext cx="10305288" cy="1188720"/>
        </p:xfrm>
        <a:graphic>
          <a:graphicData uri="http://schemas.openxmlformats.org/drawingml/2006/table">
            <a:tbl>
              <a:tblPr/>
              <a:tblGrid>
                <a:gridCol w="1288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8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8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8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81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81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81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81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CustID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ShipAddrID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PromoID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PtsEarned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0EA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166600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591087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2086.26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2086.26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82863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472830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798.18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777.53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183477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177070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5852.4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5852.4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7316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250959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1511.02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1511.02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455055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629395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1772.92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1661.84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182880" y="2798064"/>
            <a:ext cx="1179576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182880" y="2798064"/>
            <a:ext cx="1417320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28600" y="2816352"/>
            <a:ext cx="1325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OrderItem</a:t>
            </a:r>
            <a:endParaRPr lang="en-US" sz="1000" dirty="0"/>
          </a:p>
        </p:txBody>
      </p:sp>
      <p:graphicFrame>
        <p:nvGraphicFramePr>
          <p:cNvPr id="15" name="Table 2"/>
          <p:cNvGraphicFramePr>
            <a:graphicFrameLocks noGrp="1"/>
          </p:cNvGraphicFramePr>
          <p:nvPr/>
        </p:nvGraphicFramePr>
        <p:xfrm>
          <a:off x="1655064" y="2825496"/>
          <a:ext cx="10305288" cy="1188720"/>
        </p:xfrm>
        <a:graphic>
          <a:graphicData uri="http://schemas.openxmlformats.org/drawingml/2006/table">
            <a:tbl>
              <a:tblPr/>
              <a:tblGrid>
                <a:gridCol w="1472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VariantID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UnitPrice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LineTotal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PromoID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8364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1043.13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2086.26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10037.74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10037.74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4188.9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8377.8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4166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322.67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968.01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7529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309.68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619.36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Shape 11"/>
          <p:cNvSpPr/>
          <p:nvPr/>
        </p:nvSpPr>
        <p:spPr>
          <a:xfrm>
            <a:off x="182880" y="3995928"/>
            <a:ext cx="1179576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182880" y="3995928"/>
            <a:ext cx="1417320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228600" y="4014216"/>
            <a:ext cx="1325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000" dirty="0"/>
          </a:p>
        </p:txBody>
      </p:sp>
      <p:graphicFrame>
        <p:nvGraphicFramePr>
          <p:cNvPr id="19" name="Table 3"/>
          <p:cNvGraphicFramePr>
            <a:graphicFrameLocks noGrp="1"/>
          </p:cNvGraphicFramePr>
          <p:nvPr/>
        </p:nvGraphicFramePr>
        <p:xfrm>
          <a:off x="1655064" y="4023360"/>
          <a:ext cx="10305288" cy="1188720"/>
        </p:xfrm>
        <a:graphic>
          <a:graphicData uri="http://schemas.openxmlformats.org/drawingml/2006/table">
            <a:tbl>
              <a:tblPr/>
              <a:tblGrid>
                <a:gridCol w="1288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8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8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8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81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81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81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81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PromoID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DiscountVal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StartDate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EndDate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UsageLimit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IsActive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SUMMER2022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4/05/2022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18/05/2022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SUMMER2023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35.45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2/09/2023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27/09/2023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SUMMER2024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4/04/2024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27/04/2024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SUMMER2025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30.26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7/09/2025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21/09/2025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WINTER2022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406.62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FixedAmount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13/01/2022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25/01/2022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Shape 14"/>
          <p:cNvSpPr/>
          <p:nvPr/>
        </p:nvSpPr>
        <p:spPr>
          <a:xfrm>
            <a:off x="182880" y="5193792"/>
            <a:ext cx="1179576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182880" y="5193792"/>
            <a:ext cx="1417320" cy="11155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228600" y="5212080"/>
            <a:ext cx="1325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SupportTicket</a:t>
            </a:r>
            <a:endParaRPr lang="en-US" sz="1000" dirty="0"/>
          </a:p>
        </p:txBody>
      </p:sp>
      <p:graphicFrame>
        <p:nvGraphicFramePr>
          <p:cNvPr id="23" name="Table 4"/>
          <p:cNvGraphicFramePr>
            <a:graphicFrameLocks noGrp="1"/>
          </p:cNvGraphicFramePr>
          <p:nvPr/>
        </p:nvGraphicFramePr>
        <p:xfrm>
          <a:off x="1655064" y="5221224"/>
          <a:ext cx="10305288" cy="1402080"/>
        </p:xfrm>
        <a:graphic>
          <a:graphicData uri="http://schemas.openxmlformats.org/drawingml/2006/table">
            <a:tbl>
              <a:tblPr/>
              <a:tblGrid>
                <a:gridCol w="1472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TktID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CustID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CreatedAt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ClosedAt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68640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stopped working after 2 days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44:28.0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40343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order before it is shipped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37:39.0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37:39.0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18852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Received damaged product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20:20.0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20:20.0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50979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order before it is shipped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19:29.0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19:29.0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stopped working after 2 days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46:44.0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46:44.0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Shape 17"/>
          <p:cNvSpPr/>
          <p:nvPr/>
        </p:nvSpPr>
        <p:spPr>
          <a:xfrm>
            <a:off x="0" y="6821424"/>
            <a:ext cx="12161520" cy="365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F38BDD-91F1-10F2-4FCB-7F854FB8252A}"/>
              </a:ext>
            </a:extLst>
          </p:cNvPr>
          <p:cNvSpPr txBox="1"/>
          <p:nvPr/>
        </p:nvSpPr>
        <p:spPr>
          <a:xfrm>
            <a:off x="372277" y="273961"/>
            <a:ext cx="6097604" cy="1228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F4E79"/>
                </a:solidFill>
                <a:effectLst/>
                <a:latin typeface="Arial" panose="020B0604020202020204" pitchFamily="34" charset="0"/>
              </a:rPr>
              <a:t>1. </a:t>
            </a:r>
            <a:r>
              <a:rPr lang="en-US" sz="3200" b="1" dirty="0" err="1">
                <a:solidFill>
                  <a:srgbClr val="1F4E79"/>
                </a:solidFill>
                <a:effectLst/>
                <a:latin typeface="Arial" panose="020B0604020202020204" pitchFamily="34" charset="0"/>
              </a:rPr>
              <a:t>vw_CustomerMaster</a:t>
            </a:r>
            <a:endParaRPr lang="en-US" sz="3200" b="1" dirty="0">
              <a:solidFill>
                <a:srgbClr val="1F4E79"/>
              </a:solidFill>
              <a:effectLst/>
              <a:latin typeface="Arial" panose="020B0604020202020204" pitchFamily="34" charset="0"/>
            </a:endParaRPr>
          </a:p>
          <a:p>
            <a:pPr marL="0" marR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Objective: Displays customers with total orders and total completed payments amount.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A2300F-7415-ABFF-6AC6-9A517FB63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77" y="1502502"/>
            <a:ext cx="6400800" cy="19926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98927C-3AAF-1974-0F0D-7DF2413D4D7A}"/>
              </a:ext>
            </a:extLst>
          </p:cNvPr>
          <p:cNvSpPr txBox="1"/>
          <p:nvPr/>
        </p:nvSpPr>
        <p:spPr>
          <a:xfrm>
            <a:off x="372277" y="4363257"/>
            <a:ext cx="5113421" cy="1505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F4E79"/>
                </a:solidFill>
                <a:effectLst/>
                <a:latin typeface="Arial" panose="020B0604020202020204" pitchFamily="34" charset="0"/>
              </a:rPr>
              <a:t>2. </a:t>
            </a:r>
            <a:r>
              <a:rPr lang="en-US" sz="3200" b="1" dirty="0" err="1">
                <a:solidFill>
                  <a:srgbClr val="1F4E79"/>
                </a:solidFill>
                <a:effectLst/>
                <a:latin typeface="Arial" panose="020B0604020202020204" pitchFamily="34" charset="0"/>
              </a:rPr>
              <a:t>vw_ProductCatalog</a:t>
            </a:r>
            <a:endParaRPr lang="en-US" sz="3200" b="1" dirty="0">
              <a:solidFill>
                <a:srgbClr val="1F4E79"/>
              </a:solidFill>
              <a:effectLst/>
              <a:latin typeface="Arial" panose="020B0604020202020204" pitchFamily="34" charset="0"/>
            </a:endParaRPr>
          </a:p>
          <a:p>
            <a:pPr marL="0" marR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Objective: Shows products with current price, total stock quantity, and stock status (In Stock / Low Stock / Out of Stock).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24D90D-C5F0-0FE4-B43B-F2DC43E1D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4048125"/>
            <a:ext cx="640080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69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83E4C9-5F44-AD45-D0DA-F42FBAFEA8DF}"/>
              </a:ext>
            </a:extLst>
          </p:cNvPr>
          <p:cNvSpPr txBox="1"/>
          <p:nvPr/>
        </p:nvSpPr>
        <p:spPr>
          <a:xfrm>
            <a:off x="515152" y="316436"/>
            <a:ext cx="11791148" cy="951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F4E79"/>
                </a:solidFill>
                <a:effectLst/>
                <a:latin typeface="Arial" panose="020B0604020202020204" pitchFamily="34" charset="0"/>
              </a:rPr>
              <a:t>3. Daily Sales Analysis</a:t>
            </a:r>
          </a:p>
          <a:p>
            <a:pPr marL="0" marR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Objective: Analyzes daily sales performance including orders count, revenue, average order value, and items sold.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22D809-021C-F9C6-1FA8-AAD5408A9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25" y="1420382"/>
            <a:ext cx="6400800" cy="20364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12337B-6463-2569-E32D-C20944B769A0}"/>
              </a:ext>
            </a:extLst>
          </p:cNvPr>
          <p:cNvSpPr txBox="1"/>
          <p:nvPr/>
        </p:nvSpPr>
        <p:spPr>
          <a:xfrm>
            <a:off x="372276" y="3609231"/>
            <a:ext cx="11095823" cy="119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F4E79"/>
                </a:solidFill>
                <a:effectLst/>
                <a:latin typeface="Arial" panose="020B0604020202020204" pitchFamily="34" charset="0"/>
              </a:rPr>
              <a:t>4. </a:t>
            </a:r>
            <a:r>
              <a:rPr lang="en-US" sz="3200" b="1" dirty="0" err="1">
                <a:solidFill>
                  <a:srgbClr val="1F4E79"/>
                </a:solidFill>
                <a:effectLst/>
                <a:latin typeface="Arial" panose="020B0604020202020204" pitchFamily="34" charset="0"/>
              </a:rPr>
              <a:t>vw_OrderDetails</a:t>
            </a:r>
            <a:endParaRPr lang="en-US" sz="3200" b="1" dirty="0">
              <a:solidFill>
                <a:srgbClr val="1F4E79"/>
              </a:solidFill>
              <a:effectLst/>
              <a:latin typeface="Arial" panose="020B0604020202020204" pitchFamily="34" charset="0"/>
            </a:endParaRPr>
          </a:p>
          <a:p>
            <a:pPr>
              <a:buNone/>
            </a:pPr>
            <a:r>
              <a:rPr lang="en-US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Objective: Displays detailed order information including customer name, product, quantities, prices, payment status, and shipment status.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399D1A-6525-6046-2266-52F4AC43A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769" y="4533265"/>
            <a:ext cx="5841231" cy="232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68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17E855-A683-6835-9728-385E01FF2BFF}"/>
              </a:ext>
            </a:extLst>
          </p:cNvPr>
          <p:cNvSpPr txBox="1"/>
          <p:nvPr/>
        </p:nvSpPr>
        <p:spPr>
          <a:xfrm>
            <a:off x="142874" y="0"/>
            <a:ext cx="11896725" cy="1305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F4E79"/>
                </a:solidFill>
                <a:effectLst/>
                <a:latin typeface="Arial" panose="020B0604020202020204" pitchFamily="34" charset="0"/>
              </a:rPr>
              <a:t>5. Cart Conversion Rate (Monthly)</a:t>
            </a:r>
          </a:p>
          <a:p>
            <a:pPr marL="0" marR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Objective: Calculates monthly cart-to-order conversion rate to measure shopping cart effectiveness.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300"/>
              </a:spcBef>
              <a:buNone/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A53E7E-B896-C6EA-BEEA-4F836B780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50" y="1122997"/>
            <a:ext cx="6400800" cy="20021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A02DE5-6D6B-19A1-515A-50C60E2B9AB6}"/>
              </a:ext>
            </a:extLst>
          </p:cNvPr>
          <p:cNvSpPr txBox="1"/>
          <p:nvPr/>
        </p:nvSpPr>
        <p:spPr>
          <a:xfrm>
            <a:off x="0" y="3125152"/>
            <a:ext cx="10515600" cy="1305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400"/>
              </a:spcBef>
              <a:spcAft>
                <a:spcPts val="400"/>
              </a:spcAft>
              <a:buNone/>
            </a:pPr>
            <a:r>
              <a:rPr lang="ar-EG" sz="3200" b="1" dirty="0">
                <a:solidFill>
                  <a:srgbClr val="1F4E79"/>
                </a:solidFill>
                <a:latin typeface="Arial" panose="020B0604020202020204" pitchFamily="34" charset="0"/>
              </a:rPr>
              <a:t>6</a:t>
            </a:r>
            <a:r>
              <a:rPr lang="en-US" sz="3200" b="1" dirty="0">
                <a:solidFill>
                  <a:srgbClr val="1F4E79"/>
                </a:solidFill>
                <a:effectLst/>
                <a:latin typeface="Arial" panose="020B0604020202020204" pitchFamily="34" charset="0"/>
              </a:rPr>
              <a:t>. Top 3 Products per Category</a:t>
            </a:r>
          </a:p>
          <a:p>
            <a:pPr marL="0" marR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A1A2E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Objective: Identifies the top 3 best-selling products in each category based on revenue.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300"/>
              </a:spcBef>
              <a:buNone/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3F644A-4626-C1A0-6AA1-AAC4A5C32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075" y="4519295"/>
            <a:ext cx="6400800" cy="199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975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13BAF-212B-B0B2-A822-EE7596DA6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263846-5714-0187-52E4-23F5682F87D1}"/>
              </a:ext>
            </a:extLst>
          </p:cNvPr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3498AAD-EF0F-6EC4-006A-867CF701B9B1}"/>
              </a:ext>
            </a:extLst>
          </p:cNvPr>
          <p:cNvSpPr/>
          <p:nvPr/>
        </p:nvSpPr>
        <p:spPr>
          <a:xfrm>
            <a:off x="170688" y="0"/>
            <a:ext cx="12021312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5CA4032-A4FF-AED5-A64E-09770FEC1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70560"/>
            <a:ext cx="1706880" cy="170688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AEDF606D-7063-1765-93DF-8F6DA5DC2E8C}"/>
              </a:ext>
            </a:extLst>
          </p:cNvPr>
          <p:cNvSpPr/>
          <p:nvPr/>
        </p:nvSpPr>
        <p:spPr>
          <a:xfrm>
            <a:off x="670560" y="1036320"/>
            <a:ext cx="902208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</a:t>
            </a:r>
            <a:endParaRPr lang="en-US" sz="5333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0A74E44-F777-CC44-7B6A-CEFDDBFC7A01}"/>
              </a:ext>
            </a:extLst>
          </p:cNvPr>
          <p:cNvSpPr/>
          <p:nvPr/>
        </p:nvSpPr>
        <p:spPr>
          <a:xfrm>
            <a:off x="670560" y="2145792"/>
            <a:ext cx="902208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333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Queries &amp; Views</a:t>
            </a:r>
            <a:endParaRPr lang="en-US" sz="5333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8B5151D-CB7B-D812-0972-600546C46D72}"/>
              </a:ext>
            </a:extLst>
          </p:cNvPr>
          <p:cNvSpPr/>
          <p:nvPr/>
        </p:nvSpPr>
        <p:spPr>
          <a:xfrm>
            <a:off x="670560" y="3380232"/>
            <a:ext cx="5852160" cy="48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3C5921B-A9C7-5830-39EB-20C465346422}"/>
              </a:ext>
            </a:extLst>
          </p:cNvPr>
          <p:cNvSpPr/>
          <p:nvPr/>
        </p:nvSpPr>
        <p:spPr>
          <a:xfrm>
            <a:off x="1377696" y="4194048"/>
            <a:ext cx="25603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44,650 Customers</a:t>
            </a:r>
            <a:endParaRPr lang="en-US" sz="1733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67E5B522-7810-AC65-8329-66957D5CC70F}"/>
              </a:ext>
            </a:extLst>
          </p:cNvPr>
          <p:cNvSpPr/>
          <p:nvPr/>
        </p:nvSpPr>
        <p:spPr>
          <a:xfrm>
            <a:off x="5157216" y="4194048"/>
            <a:ext cx="25603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Features</a:t>
            </a:r>
            <a:endParaRPr lang="en-US" sz="1733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75BE6AE5-A0BB-8581-862F-4B591E88791D}"/>
              </a:ext>
            </a:extLst>
          </p:cNvPr>
          <p:cNvSpPr/>
          <p:nvPr/>
        </p:nvSpPr>
        <p:spPr>
          <a:xfrm>
            <a:off x="8936736" y="4194048"/>
            <a:ext cx="25603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ML Targets</a:t>
            </a:r>
            <a:endParaRPr lang="en-US" sz="1733" dirty="0"/>
          </a:p>
        </p:txBody>
      </p:sp>
    </p:spTree>
    <p:extLst>
      <p:ext uri="{BB962C8B-B14F-4D97-AF65-F5344CB8AC3E}">
        <p14:creationId xmlns:p14="http://schemas.microsoft.com/office/powerpoint/2010/main" val="1601107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7CF6AC-BFE6-8265-BCF7-2929F7DA9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050" y="75867"/>
            <a:ext cx="7067549" cy="640843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8026A1-7DF4-8F9C-AC04-0F64DE68EBD6}"/>
              </a:ext>
            </a:extLst>
          </p:cNvPr>
          <p:cNvSpPr txBox="1"/>
          <p:nvPr/>
        </p:nvSpPr>
        <p:spPr>
          <a:xfrm>
            <a:off x="1781175" y="2633754"/>
            <a:ext cx="3267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C000"/>
                </a:solidFill>
              </a:rPr>
              <a:t>Orange</a:t>
            </a:r>
          </a:p>
        </p:txBody>
      </p:sp>
    </p:spTree>
    <p:extLst>
      <p:ext uri="{BB962C8B-B14F-4D97-AF65-F5344CB8AC3E}">
        <p14:creationId xmlns:p14="http://schemas.microsoft.com/office/powerpoint/2010/main" val="4044025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BED730-F5A8-A90E-2BED-FCA9E29179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50557"/>
            <a:ext cx="5667375" cy="3206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35C2F4-C496-3F41-2630-C6992765AB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"/>
            <a:ext cx="6096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1EBCAF-55DF-DDC0-CF0E-E7A1D1DC7F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122" y="3580898"/>
            <a:ext cx="6232878" cy="30525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6364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D8762E-EFCE-8246-9D01-60E65F44A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9" y="190500"/>
            <a:ext cx="3667225" cy="3820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37B6FE-1900-7CE8-6CEB-5028FD757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414" y="2743199"/>
            <a:ext cx="3522847" cy="3820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87045F-DB6F-F23E-AFAB-5055F4FAC9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450" y="190500"/>
            <a:ext cx="4857550" cy="38203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3811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170688" y="0"/>
            <a:ext cx="12021312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670560"/>
            <a:ext cx="1706880" cy="1706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0560" y="1036320"/>
            <a:ext cx="902208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</a:t>
            </a:r>
            <a:endParaRPr lang="en-US" sz="5333" dirty="0"/>
          </a:p>
        </p:txBody>
      </p:sp>
      <p:sp>
        <p:nvSpPr>
          <p:cNvPr id="6" name="Text 3"/>
          <p:cNvSpPr/>
          <p:nvPr/>
        </p:nvSpPr>
        <p:spPr>
          <a:xfrm>
            <a:off x="670560" y="2145792"/>
            <a:ext cx="902208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333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5333" dirty="0"/>
          </a:p>
        </p:txBody>
      </p:sp>
      <p:sp>
        <p:nvSpPr>
          <p:cNvPr id="7" name="Text 4"/>
          <p:cNvSpPr/>
          <p:nvPr/>
        </p:nvSpPr>
        <p:spPr>
          <a:xfrm>
            <a:off x="670560" y="3316224"/>
            <a:ext cx="999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Exploratory Data Analysis — 20 Questions, 3 ML Targets</a:t>
            </a:r>
            <a:endParaRPr lang="en-US" sz="2133" dirty="0"/>
          </a:p>
        </p:txBody>
      </p:sp>
      <p:sp>
        <p:nvSpPr>
          <p:cNvPr id="8" name="Shape 5"/>
          <p:cNvSpPr/>
          <p:nvPr/>
        </p:nvSpPr>
        <p:spPr>
          <a:xfrm>
            <a:off x="670560" y="3962400"/>
            <a:ext cx="5852160" cy="48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6"/>
          <p:cNvSpPr/>
          <p:nvPr/>
        </p:nvSpPr>
        <p:spPr>
          <a:xfrm>
            <a:off x="670560" y="4169664"/>
            <a:ext cx="3474720" cy="707136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864" y="4279392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7696" y="4194048"/>
            <a:ext cx="25603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44,650 Customers</a:t>
            </a:r>
            <a:endParaRPr lang="en-US" sz="1733" dirty="0"/>
          </a:p>
        </p:txBody>
      </p:sp>
      <p:sp>
        <p:nvSpPr>
          <p:cNvPr id="12" name="Shape 8"/>
          <p:cNvSpPr/>
          <p:nvPr/>
        </p:nvSpPr>
        <p:spPr>
          <a:xfrm>
            <a:off x="4450080" y="4169664"/>
            <a:ext cx="3474720" cy="707136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6384" y="427939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57216" y="4194048"/>
            <a:ext cx="25603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Features</a:t>
            </a:r>
            <a:endParaRPr lang="en-US" sz="1733" dirty="0"/>
          </a:p>
        </p:txBody>
      </p:sp>
      <p:sp>
        <p:nvSpPr>
          <p:cNvPr id="15" name="Shape 10"/>
          <p:cNvSpPr/>
          <p:nvPr/>
        </p:nvSpPr>
        <p:spPr>
          <a:xfrm>
            <a:off x="8229600" y="4169664"/>
            <a:ext cx="3474720" cy="707136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904" y="4279392"/>
            <a:ext cx="438912" cy="4389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36736" y="4194048"/>
            <a:ext cx="25603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ML Targets</a:t>
            </a:r>
            <a:endParaRPr lang="en-US" sz="173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8768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933" dirty="0"/>
          </a:p>
        </p:txBody>
      </p:sp>
      <p:sp>
        <p:nvSpPr>
          <p:cNvPr id="4" name="Text 2"/>
          <p:cNvSpPr/>
          <p:nvPr/>
        </p:nvSpPr>
        <p:spPr>
          <a:xfrm>
            <a:off x="487680" y="1072896"/>
            <a:ext cx="112166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competitive e-commerce, retaining a customer costs 5× less than acquiring a new one. This EDA decodes the behavioral DNA of 44,650 customers to answer three critical business questions: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26720" y="2011680"/>
            <a:ext cx="3535680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426720" y="2011680"/>
            <a:ext cx="3535680" cy="10972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1767840" y="2218944"/>
            <a:ext cx="853440" cy="8534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760" y="2316480"/>
            <a:ext cx="609600" cy="609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194304"/>
            <a:ext cx="32918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36210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467" dirty="0"/>
          </a:p>
        </p:txBody>
      </p:sp>
      <p:sp>
        <p:nvSpPr>
          <p:cNvPr id="11" name="Text 8"/>
          <p:cNvSpPr/>
          <p:nvPr/>
        </p:nvSpPr>
        <p:spPr>
          <a:xfrm>
            <a:off x="609600" y="4047744"/>
            <a:ext cx="316992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will leave the platform next month?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67200" y="2011680"/>
            <a:ext cx="3535680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3" name="Shape 10"/>
          <p:cNvSpPr/>
          <p:nvPr/>
        </p:nvSpPr>
        <p:spPr>
          <a:xfrm>
            <a:off x="4267200" y="2011680"/>
            <a:ext cx="353568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Shape 11"/>
          <p:cNvSpPr/>
          <p:nvPr/>
        </p:nvSpPr>
        <p:spPr>
          <a:xfrm>
            <a:off x="5608320" y="2218944"/>
            <a:ext cx="853440" cy="853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0240" y="2316480"/>
            <a:ext cx="609600" cy="609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0" y="3194304"/>
            <a:ext cx="32918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Value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389120" y="36210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467" dirty="0"/>
          </a:p>
        </p:txBody>
      </p:sp>
      <p:sp>
        <p:nvSpPr>
          <p:cNvPr id="18" name="Text 14"/>
          <p:cNvSpPr/>
          <p:nvPr/>
        </p:nvSpPr>
        <p:spPr>
          <a:xfrm>
            <a:off x="4450080" y="4047744"/>
            <a:ext cx="316992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will each customer generate?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8107680" y="2011680"/>
            <a:ext cx="3535680" cy="3511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Shape 16"/>
          <p:cNvSpPr/>
          <p:nvPr/>
        </p:nvSpPr>
        <p:spPr>
          <a:xfrm>
            <a:off x="8107680" y="2011680"/>
            <a:ext cx="3535680" cy="1097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Shape 17"/>
          <p:cNvSpPr/>
          <p:nvPr/>
        </p:nvSpPr>
        <p:spPr>
          <a:xfrm>
            <a:off x="9448800" y="2218944"/>
            <a:ext cx="853440" cy="853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0720" y="2316480"/>
            <a:ext cx="609600" cy="609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29600" y="3194304"/>
            <a:ext cx="32918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Segmentation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8229600" y="36210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Classification</a:t>
            </a:r>
            <a:endParaRPr lang="en-US" sz="1467" dirty="0"/>
          </a:p>
        </p:txBody>
      </p:sp>
      <p:sp>
        <p:nvSpPr>
          <p:cNvPr id="25" name="Text 20"/>
          <p:cNvSpPr/>
          <p:nvPr/>
        </p:nvSpPr>
        <p:spPr>
          <a:xfrm>
            <a:off x="8290560" y="4047744"/>
            <a:ext cx="316992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value customer tiering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2"/>
          <p:cNvSpPr/>
          <p:nvPr/>
        </p:nvSpPr>
        <p:spPr>
          <a:xfrm>
            <a:off x="121920" y="6096000"/>
            <a:ext cx="231648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Loading</a:t>
            </a:r>
            <a:endParaRPr lang="en-US" sz="1467" dirty="0"/>
          </a:p>
        </p:txBody>
      </p:sp>
      <p:sp>
        <p:nvSpPr>
          <p:cNvPr id="28" name="Shape 23"/>
          <p:cNvSpPr/>
          <p:nvPr/>
        </p:nvSpPr>
        <p:spPr>
          <a:xfrm>
            <a:off x="2377440" y="6412992"/>
            <a:ext cx="146304" cy="1463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4"/>
          <p:cNvSpPr/>
          <p:nvPr/>
        </p:nvSpPr>
        <p:spPr>
          <a:xfrm>
            <a:off x="2560320" y="6096000"/>
            <a:ext cx="231648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Cleaning</a:t>
            </a:r>
            <a:endParaRPr lang="en-US" sz="1467" dirty="0"/>
          </a:p>
        </p:txBody>
      </p:sp>
      <p:sp>
        <p:nvSpPr>
          <p:cNvPr id="30" name="Shape 25"/>
          <p:cNvSpPr/>
          <p:nvPr/>
        </p:nvSpPr>
        <p:spPr>
          <a:xfrm>
            <a:off x="4815840" y="6412992"/>
            <a:ext cx="146304" cy="1463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6"/>
          <p:cNvSpPr/>
          <p:nvPr/>
        </p:nvSpPr>
        <p:spPr>
          <a:xfrm>
            <a:off x="4998720" y="6096000"/>
            <a:ext cx="231648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Feature Engineering</a:t>
            </a:r>
            <a:endParaRPr lang="en-US" sz="1467" dirty="0"/>
          </a:p>
        </p:txBody>
      </p:sp>
      <p:sp>
        <p:nvSpPr>
          <p:cNvPr id="32" name="Shape 27"/>
          <p:cNvSpPr/>
          <p:nvPr/>
        </p:nvSpPr>
        <p:spPr>
          <a:xfrm>
            <a:off x="7254240" y="6412992"/>
            <a:ext cx="146304" cy="1463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28"/>
          <p:cNvSpPr/>
          <p:nvPr/>
        </p:nvSpPr>
        <p:spPr>
          <a:xfrm>
            <a:off x="7437120" y="6096000"/>
            <a:ext cx="231648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EDA (Q1–Q20)</a:t>
            </a:r>
            <a:endParaRPr lang="en-US" sz="1467" dirty="0"/>
          </a:p>
        </p:txBody>
      </p:sp>
      <p:sp>
        <p:nvSpPr>
          <p:cNvPr id="34" name="Shape 29"/>
          <p:cNvSpPr/>
          <p:nvPr/>
        </p:nvSpPr>
        <p:spPr>
          <a:xfrm>
            <a:off x="9692640" y="6412992"/>
            <a:ext cx="146304" cy="1463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30"/>
          <p:cNvSpPr/>
          <p:nvPr/>
        </p:nvSpPr>
        <p:spPr>
          <a:xfrm>
            <a:off x="9875520" y="6096000"/>
            <a:ext cx="231648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Modeling Roadmap</a:t>
            </a:r>
            <a:endParaRPr lang="en-US" sz="1467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8768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560320" cy="1828800"/>
          </a:xfrm>
          <a:prstGeom prst="rect">
            <a:avLst/>
          </a:prstGeom>
          <a:solidFill>
            <a:srgbClr val="13223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365760" y="1292352"/>
            <a:ext cx="25603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44,650</a:t>
            </a:r>
            <a:endParaRPr lang="en-US" sz="4267" dirty="0"/>
          </a:p>
        </p:txBody>
      </p:sp>
      <p:sp>
        <p:nvSpPr>
          <p:cNvPr id="6" name="Text 4"/>
          <p:cNvSpPr/>
          <p:nvPr/>
        </p:nvSpPr>
        <p:spPr>
          <a:xfrm>
            <a:off x="365760" y="2072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3267456" y="1097280"/>
            <a:ext cx="2560320" cy="1828800"/>
          </a:xfrm>
          <a:prstGeom prst="rect">
            <a:avLst/>
          </a:prstGeom>
          <a:solidFill>
            <a:srgbClr val="132238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3267456" y="1292352"/>
            <a:ext cx="25603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ar-EG" sz="4267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67" dirty="0"/>
          </a:p>
        </p:txBody>
      </p:sp>
      <p:sp>
        <p:nvSpPr>
          <p:cNvPr id="9" name="Text 7"/>
          <p:cNvSpPr/>
          <p:nvPr/>
        </p:nvSpPr>
        <p:spPr>
          <a:xfrm>
            <a:off x="3267456" y="2072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6096000" y="1146048"/>
            <a:ext cx="2560320" cy="1828800"/>
          </a:xfrm>
          <a:prstGeom prst="rect">
            <a:avLst/>
          </a:prstGeom>
          <a:solidFill>
            <a:srgbClr val="132238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169152" y="1292352"/>
            <a:ext cx="25603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ar-EG" sz="4267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267" dirty="0"/>
          </a:p>
        </p:txBody>
      </p:sp>
      <p:sp>
        <p:nvSpPr>
          <p:cNvPr id="12" name="Text 10"/>
          <p:cNvSpPr/>
          <p:nvPr/>
        </p:nvSpPr>
        <p:spPr>
          <a:xfrm>
            <a:off x="6169152" y="2072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 w/ Missing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9070848" y="1097280"/>
            <a:ext cx="2560320" cy="1828800"/>
          </a:xfrm>
          <a:prstGeom prst="rect">
            <a:avLst/>
          </a:prstGeom>
          <a:solidFill>
            <a:srgbClr val="132238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9070848" y="1292352"/>
            <a:ext cx="25603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67" dirty="0"/>
          </a:p>
        </p:txBody>
      </p:sp>
      <p:sp>
        <p:nvSpPr>
          <p:cNvPr id="15" name="Text 13"/>
          <p:cNvSpPr/>
          <p:nvPr/>
        </p:nvSpPr>
        <p:spPr>
          <a:xfrm>
            <a:off x="9070848" y="2072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Targets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487680" y="3169920"/>
            <a:ext cx="487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Domains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65760" y="3718560"/>
            <a:ext cx="85344" cy="463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09600" y="3718560"/>
            <a:ext cx="25603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08960" y="3718560"/>
            <a:ext cx="53644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Country, City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365760" y="4413504"/>
            <a:ext cx="85344" cy="46329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609600" y="4413504"/>
            <a:ext cx="25603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Behavior: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08960" y="4413504"/>
            <a:ext cx="53644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Freq, Session Duration, Pages/Session</a:t>
            </a:r>
            <a:endParaRPr lang="en-US" sz="1467" dirty="0"/>
          </a:p>
        </p:txBody>
      </p:sp>
      <p:sp>
        <p:nvSpPr>
          <p:cNvPr id="23" name="Shape 21"/>
          <p:cNvSpPr/>
          <p:nvPr/>
        </p:nvSpPr>
        <p:spPr>
          <a:xfrm>
            <a:off x="365760" y="5108448"/>
            <a:ext cx="85344" cy="46329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609600" y="5108448"/>
            <a:ext cx="25603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108960" y="5108448"/>
            <a:ext cx="53644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Purchases, AOV, Cart Abandonment</a:t>
            </a:r>
            <a:endParaRPr lang="en-US" sz="1467" dirty="0"/>
          </a:p>
        </p:txBody>
      </p:sp>
      <p:sp>
        <p:nvSpPr>
          <p:cNvPr id="26" name="Shape 24"/>
          <p:cNvSpPr/>
          <p:nvPr/>
        </p:nvSpPr>
        <p:spPr>
          <a:xfrm>
            <a:off x="365760" y="5803392"/>
            <a:ext cx="85344" cy="46329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609600" y="5803392"/>
            <a:ext cx="25603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Risk: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108960" y="5803392"/>
            <a:ext cx="53644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Calls, Returns Rate, Discount Usage</a:t>
            </a:r>
            <a:endParaRPr lang="en-US" sz="1467" dirty="0"/>
          </a:p>
        </p:txBody>
      </p:sp>
      <p:sp>
        <p:nvSpPr>
          <p:cNvPr id="29" name="Shape 27"/>
          <p:cNvSpPr/>
          <p:nvPr/>
        </p:nvSpPr>
        <p:spPr>
          <a:xfrm>
            <a:off x="6949440" y="3072384"/>
            <a:ext cx="4754880" cy="3486912"/>
          </a:xfrm>
          <a:prstGeom prst="rect">
            <a:avLst/>
          </a:prstGeom>
          <a:solidFill>
            <a:srgbClr val="13223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7193280" y="3230880"/>
            <a:ext cx="42672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Targets</a:t>
            </a:r>
            <a:endParaRPr lang="en-US" sz="1867" dirty="0"/>
          </a:p>
        </p:txBody>
      </p:sp>
      <p:sp>
        <p:nvSpPr>
          <p:cNvPr id="31" name="Shape 29"/>
          <p:cNvSpPr/>
          <p:nvPr/>
        </p:nvSpPr>
        <p:spPr>
          <a:xfrm>
            <a:off x="7193280" y="3840480"/>
            <a:ext cx="4145280" cy="670560"/>
          </a:xfrm>
          <a:prstGeom prst="rect">
            <a:avLst/>
          </a:prstGeom>
          <a:solidFill>
            <a:srgbClr val="1B3A5C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7315200" y="3840480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509760" y="3840480"/>
            <a:ext cx="17068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0/1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7193280" y="4693920"/>
            <a:ext cx="4145280" cy="670560"/>
          </a:xfrm>
          <a:prstGeom prst="rect">
            <a:avLst/>
          </a:prstGeom>
          <a:solidFill>
            <a:srgbClr val="1B3A5C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7315200" y="4693920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Lifetime_Value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509760" y="4693920"/>
            <a:ext cx="17068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Regression</a:t>
            </a:r>
            <a:endParaRPr lang="en-US" sz="1333" dirty="0"/>
          </a:p>
        </p:txBody>
      </p:sp>
      <p:sp>
        <p:nvSpPr>
          <p:cNvPr id="37" name="Shape 35"/>
          <p:cNvSpPr/>
          <p:nvPr/>
        </p:nvSpPr>
        <p:spPr>
          <a:xfrm>
            <a:off x="7193280" y="5547360"/>
            <a:ext cx="4145280" cy="670560"/>
          </a:xfrm>
          <a:prstGeom prst="rect">
            <a:avLst/>
          </a:prstGeom>
          <a:solidFill>
            <a:srgbClr val="1B3A5C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7315200" y="5547360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LTV_Segment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509760" y="5547360"/>
            <a:ext cx="170688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</a:t>
            </a:r>
            <a:endParaRPr lang="en-US" sz="133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8768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Cleaning Pipeline</a:t>
            </a:r>
            <a:endParaRPr lang="en-US" sz="2933" dirty="0"/>
          </a:p>
        </p:txBody>
      </p:sp>
      <p:sp>
        <p:nvSpPr>
          <p:cNvPr id="4" name="Text 2"/>
          <p:cNvSpPr/>
          <p:nvPr/>
        </p:nvSpPr>
        <p:spPr>
          <a:xfrm>
            <a:off x="426720" y="1121664"/>
            <a:ext cx="5364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Identified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26720" y="1706880"/>
            <a:ext cx="548640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65376"/>
            <a:ext cx="463296" cy="4632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67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ar-EG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columns with missing values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80160" y="2133600"/>
            <a:ext cx="438912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float columns handled via median/mean imputation</a:t>
            </a:r>
            <a:endParaRPr lang="en-US" sz="1333" dirty="0"/>
          </a:p>
        </p:txBody>
      </p:sp>
      <p:sp>
        <p:nvSpPr>
          <p:cNvPr id="9" name="Shape 6"/>
          <p:cNvSpPr/>
          <p:nvPr/>
        </p:nvSpPr>
        <p:spPr>
          <a:xfrm>
            <a:off x="426720" y="2706624"/>
            <a:ext cx="548640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65120"/>
            <a:ext cx="463296" cy="4632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76758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columns wrong data types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280160" y="3133344"/>
            <a:ext cx="438912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Float64 storing integers: Age, Purchases, Reviews, etc.</a:t>
            </a:r>
            <a:endParaRPr lang="en-US" sz="1333" dirty="0"/>
          </a:p>
        </p:txBody>
      </p:sp>
      <p:sp>
        <p:nvSpPr>
          <p:cNvPr id="13" name="Shape 9"/>
          <p:cNvSpPr/>
          <p:nvPr/>
        </p:nvSpPr>
        <p:spPr>
          <a:xfrm>
            <a:off x="426720" y="3706368"/>
            <a:ext cx="548640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864864"/>
            <a:ext cx="463296" cy="4632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76732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negative values found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280160" y="4133088"/>
            <a:ext cx="438912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values in numeric columns flagged and removed</a:t>
            </a:r>
            <a:endParaRPr lang="en-US" sz="1333" dirty="0"/>
          </a:p>
        </p:txBody>
      </p:sp>
      <p:sp>
        <p:nvSpPr>
          <p:cNvPr id="17" name="Shape 12"/>
          <p:cNvSpPr/>
          <p:nvPr/>
        </p:nvSpPr>
        <p:spPr>
          <a:xfrm>
            <a:off x="426720" y="4706112"/>
            <a:ext cx="5486400" cy="829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864608"/>
            <a:ext cx="463296" cy="4632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47670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rows found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280160" y="5132832"/>
            <a:ext cx="438912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integrity fully confirmed</a:t>
            </a:r>
            <a:endParaRPr lang="en-US" sz="1333" dirty="0"/>
          </a:p>
        </p:txBody>
      </p:sp>
      <p:sp>
        <p:nvSpPr>
          <p:cNvPr id="21" name="Shape 15"/>
          <p:cNvSpPr/>
          <p:nvPr/>
        </p:nvSpPr>
        <p:spPr>
          <a:xfrm>
            <a:off x="6278880" y="1072896"/>
            <a:ext cx="5486400" cy="5486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2" name="Text 16"/>
          <p:cNvSpPr/>
          <p:nvPr/>
        </p:nvSpPr>
        <p:spPr>
          <a:xfrm>
            <a:off x="6522720" y="1219200"/>
            <a:ext cx="49987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Strategy</a:t>
            </a:r>
            <a:endParaRPr lang="en-US" sz="1867" dirty="0"/>
          </a:p>
        </p:txBody>
      </p:sp>
      <p:sp>
        <p:nvSpPr>
          <p:cNvPr id="23" name="Shape 17"/>
          <p:cNvSpPr/>
          <p:nvPr/>
        </p:nvSpPr>
        <p:spPr>
          <a:xfrm>
            <a:off x="6461760" y="1853184"/>
            <a:ext cx="85344" cy="82905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18"/>
          <p:cNvSpPr/>
          <p:nvPr/>
        </p:nvSpPr>
        <p:spPr>
          <a:xfrm>
            <a:off x="6705600" y="185318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705600" y="2194560"/>
            <a:ext cx="481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Service Calls, Payment Diversity</a:t>
            </a:r>
            <a:endParaRPr lang="en-US" sz="1333" dirty="0"/>
          </a:p>
        </p:txBody>
      </p:sp>
      <p:sp>
        <p:nvSpPr>
          <p:cNvPr id="26" name="Text 20"/>
          <p:cNvSpPr/>
          <p:nvPr/>
        </p:nvSpPr>
        <p:spPr>
          <a:xfrm>
            <a:off x="6705600" y="2462784"/>
            <a:ext cx="48158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Critical features — tiny missing %</a:t>
            </a:r>
            <a:endParaRPr lang="en-US" sz="1333" dirty="0"/>
          </a:p>
        </p:txBody>
      </p:sp>
      <p:sp>
        <p:nvSpPr>
          <p:cNvPr id="27" name="Shape 21"/>
          <p:cNvSpPr/>
          <p:nvPr/>
        </p:nvSpPr>
        <p:spPr>
          <a:xfrm>
            <a:off x="6461760" y="2913888"/>
            <a:ext cx="85344" cy="82905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2"/>
          <p:cNvSpPr/>
          <p:nvPr/>
        </p:nvSpPr>
        <p:spPr>
          <a:xfrm>
            <a:off x="6705600" y="29138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Fill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705600" y="3255264"/>
            <a:ext cx="481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Purchase, Returns Rate, Reviews, Wishlist</a:t>
            </a:r>
            <a:endParaRPr lang="en-US" sz="1333" dirty="0"/>
          </a:p>
        </p:txBody>
      </p:sp>
      <p:sp>
        <p:nvSpPr>
          <p:cNvPr id="30" name="Text 24"/>
          <p:cNvSpPr/>
          <p:nvPr/>
        </p:nvSpPr>
        <p:spPr>
          <a:xfrm>
            <a:off x="6705600" y="3523488"/>
            <a:ext cx="48158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Right-skewed (skew &gt; 0.9) — median is robust</a:t>
            </a:r>
            <a:endParaRPr lang="en-US" sz="1333" dirty="0"/>
          </a:p>
        </p:txBody>
      </p:sp>
      <p:sp>
        <p:nvSpPr>
          <p:cNvPr id="31" name="Shape 25"/>
          <p:cNvSpPr/>
          <p:nvPr/>
        </p:nvSpPr>
        <p:spPr>
          <a:xfrm>
            <a:off x="6461760" y="3974592"/>
            <a:ext cx="85344" cy="82905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Text 26"/>
          <p:cNvSpPr/>
          <p:nvPr/>
        </p:nvSpPr>
        <p:spPr>
          <a:xfrm>
            <a:off x="6705600" y="39745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Fill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6705600" y="4315968"/>
            <a:ext cx="481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Duration, Pages, Email Open Rate, App Usage</a:t>
            </a:r>
            <a:endParaRPr lang="en-US" sz="1333" dirty="0"/>
          </a:p>
        </p:txBody>
      </p:sp>
      <p:sp>
        <p:nvSpPr>
          <p:cNvPr id="34" name="Text 28"/>
          <p:cNvSpPr/>
          <p:nvPr/>
        </p:nvSpPr>
        <p:spPr>
          <a:xfrm>
            <a:off x="6705600" y="4584192"/>
            <a:ext cx="48158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Near-normal — mean is appropriate</a:t>
            </a:r>
            <a:endParaRPr lang="en-US" sz="1333" dirty="0"/>
          </a:p>
        </p:txBody>
      </p:sp>
      <p:sp>
        <p:nvSpPr>
          <p:cNvPr id="35" name="Shape 29"/>
          <p:cNvSpPr/>
          <p:nvPr/>
        </p:nvSpPr>
        <p:spPr>
          <a:xfrm>
            <a:off x="6461760" y="5035296"/>
            <a:ext cx="85344" cy="82905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0"/>
          <p:cNvSpPr/>
          <p:nvPr/>
        </p:nvSpPr>
        <p:spPr>
          <a:xfrm>
            <a:off x="6705600" y="503529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Int64 Convert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6705600" y="5376672"/>
            <a:ext cx="481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Purchases, Reviews, Wishlist, Service Calls</a:t>
            </a:r>
            <a:endParaRPr lang="en-US" sz="1333" dirty="0"/>
          </a:p>
        </p:txBody>
      </p:sp>
      <p:sp>
        <p:nvSpPr>
          <p:cNvPr id="38" name="Text 32"/>
          <p:cNvSpPr/>
          <p:nvPr/>
        </p:nvSpPr>
        <p:spPr>
          <a:xfrm>
            <a:off x="6705600" y="5644896"/>
            <a:ext cx="48158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Whole-number semantic correction</a:t>
            </a:r>
            <a:endParaRPr lang="en-US" sz="1333" dirty="0"/>
          </a:p>
        </p:txBody>
      </p:sp>
      <p:sp>
        <p:nvSpPr>
          <p:cNvPr id="39" name="Shape 33"/>
          <p:cNvSpPr/>
          <p:nvPr/>
        </p:nvSpPr>
        <p:spPr>
          <a:xfrm>
            <a:off x="0" y="6278880"/>
            <a:ext cx="12192000" cy="579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Text 34"/>
          <p:cNvSpPr/>
          <p:nvPr/>
        </p:nvSpPr>
        <p:spPr>
          <a:xfrm>
            <a:off x="487680" y="6278880"/>
            <a:ext cx="11216640" cy="57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44,650 rows × 2</a:t>
            </a:r>
            <a:r>
              <a:rPr lang="ar-EG" sz="1733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733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columns  —  Zero missing values remaining</a:t>
            </a:r>
            <a:endParaRPr lang="en-US" sz="173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7099" y="-1139953"/>
            <a:ext cx="12042561" cy="108508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ar-EG" sz="2400" dirty="0"/>
          </a:p>
        </p:txBody>
      </p:sp>
      <p:sp>
        <p:nvSpPr>
          <p:cNvPr id="3" name="Text 1"/>
          <p:cNvSpPr/>
          <p:nvPr/>
        </p:nvSpPr>
        <p:spPr>
          <a:xfrm>
            <a:off x="-38667" y="-1909653"/>
            <a:ext cx="12230667" cy="1897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 — Feature Correlations</a:t>
            </a:r>
            <a:endParaRPr lang="en-US" sz="2933" dirty="0"/>
          </a:p>
        </p:txBody>
      </p:sp>
      <p:sp>
        <p:nvSpPr>
          <p:cNvPr id="4" name="Text 2"/>
          <p:cNvSpPr/>
          <p:nvPr/>
        </p:nvSpPr>
        <p:spPr>
          <a:xfrm>
            <a:off x="365760" y="1072896"/>
            <a:ext cx="56083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Predictors</a:t>
            </a:r>
            <a:endParaRPr lang="en-US" sz="1867" dirty="0"/>
          </a:p>
        </p:txBody>
      </p:sp>
      <p:sp>
        <p:nvSpPr>
          <p:cNvPr id="5" name="Text 3"/>
          <p:cNvSpPr/>
          <p:nvPr/>
        </p:nvSpPr>
        <p:spPr>
          <a:xfrm>
            <a:off x="365760" y="1658112"/>
            <a:ext cx="310896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Calls</a:t>
            </a:r>
            <a:endParaRPr lang="en-US" sz="1467" dirty="0"/>
          </a:p>
        </p:txBody>
      </p:sp>
      <p:sp>
        <p:nvSpPr>
          <p:cNvPr id="6" name="Shape 4"/>
          <p:cNvSpPr/>
          <p:nvPr/>
        </p:nvSpPr>
        <p:spPr>
          <a:xfrm>
            <a:off x="2701420" y="1727295"/>
            <a:ext cx="3322145" cy="536447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r>
              <a:rPr lang="ar-EG" sz="2400" dirty="0"/>
              <a:t>28.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2340864"/>
            <a:ext cx="310896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 Rate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2821925" y="2603971"/>
            <a:ext cx="3195697" cy="507775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r>
              <a:rPr lang="ar-EG" sz="2400" dirty="0"/>
              <a:t>27.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" y="3023616"/>
            <a:ext cx="310896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Per Session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3386242" y="3141246"/>
            <a:ext cx="2563455" cy="528545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r>
              <a:rPr lang="ar-EG" sz="2400" dirty="0"/>
              <a:t>22.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5760" y="3706368"/>
            <a:ext cx="310896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 Avg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3497179" y="3816096"/>
            <a:ext cx="2505979" cy="426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r>
              <a:rPr lang="ar-EG" sz="2400" dirty="0"/>
              <a:t>21.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65760" y="4389120"/>
            <a:ext cx="310896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Open Rate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3535680" y="4498847"/>
            <a:ext cx="2448501" cy="536447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r>
              <a:rPr lang="ar-EG" sz="2400" dirty="0"/>
              <a:t>20.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65760" y="5071872"/>
            <a:ext cx="310896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Usage</a:t>
            </a:r>
            <a:endParaRPr lang="en-US" sz="1467" dirty="0"/>
          </a:p>
        </p:txBody>
      </p:sp>
      <p:sp>
        <p:nvSpPr>
          <p:cNvPr id="21" name="Shape 19"/>
          <p:cNvSpPr/>
          <p:nvPr/>
        </p:nvSpPr>
        <p:spPr>
          <a:xfrm>
            <a:off x="3520353" y="5242560"/>
            <a:ext cx="2414016" cy="45110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r>
              <a:rPr lang="ar-EG" sz="2400" dirty="0"/>
              <a:t>18.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035040" y="1072896"/>
            <a:ext cx="48768" cy="4657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6339840" y="1072896"/>
            <a:ext cx="5486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LTV Predictors</a:t>
            </a:r>
            <a:endParaRPr lang="en-US" sz="1867" dirty="0"/>
          </a:p>
        </p:txBody>
      </p:sp>
      <p:sp>
        <p:nvSpPr>
          <p:cNvPr id="26" name="Shape 24"/>
          <p:cNvSpPr/>
          <p:nvPr/>
        </p:nvSpPr>
        <p:spPr>
          <a:xfrm>
            <a:off x="8595361" y="1767840"/>
            <a:ext cx="2013857" cy="32918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r>
              <a:rPr lang="en-US" sz="1867" dirty="0"/>
              <a:t>.62</a:t>
            </a:r>
          </a:p>
        </p:txBody>
      </p:sp>
      <p:sp>
        <p:nvSpPr>
          <p:cNvPr id="28" name="Text 26"/>
          <p:cNvSpPr/>
          <p:nvPr/>
        </p:nvSpPr>
        <p:spPr>
          <a:xfrm>
            <a:off x="6217920" y="2340864"/>
            <a:ext cx="23164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333" dirty="0"/>
          </a:p>
        </p:txBody>
      </p:sp>
      <p:sp>
        <p:nvSpPr>
          <p:cNvPr id="29" name="Shape 27"/>
          <p:cNvSpPr/>
          <p:nvPr/>
        </p:nvSpPr>
        <p:spPr>
          <a:xfrm>
            <a:off x="8750983" y="2479087"/>
            <a:ext cx="1888192" cy="32918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r>
              <a:rPr lang="en-US" sz="1867" dirty="0"/>
              <a:t>.58</a:t>
            </a:r>
          </a:p>
        </p:txBody>
      </p:sp>
      <p:sp>
        <p:nvSpPr>
          <p:cNvPr id="30" name="Text 28"/>
          <p:cNvSpPr/>
          <p:nvPr/>
        </p:nvSpPr>
        <p:spPr>
          <a:xfrm>
            <a:off x="10544512" y="2414016"/>
            <a:ext cx="633984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33" dirty="0"/>
          </a:p>
        </p:txBody>
      </p:sp>
      <p:sp>
        <p:nvSpPr>
          <p:cNvPr id="31" name="Text 29"/>
          <p:cNvSpPr/>
          <p:nvPr/>
        </p:nvSpPr>
        <p:spPr>
          <a:xfrm>
            <a:off x="6217920" y="3023616"/>
            <a:ext cx="23164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 Avg</a:t>
            </a:r>
            <a:endParaRPr lang="en-US" sz="1333" dirty="0"/>
          </a:p>
        </p:txBody>
      </p:sp>
      <p:sp>
        <p:nvSpPr>
          <p:cNvPr id="32" name="Shape 30"/>
          <p:cNvSpPr/>
          <p:nvPr/>
        </p:nvSpPr>
        <p:spPr>
          <a:xfrm>
            <a:off x="8595360" y="3133344"/>
            <a:ext cx="1743195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r>
              <a:rPr lang="en-US" sz="1867" dirty="0"/>
              <a:t>.54</a:t>
            </a:r>
          </a:p>
        </p:txBody>
      </p:sp>
      <p:sp>
        <p:nvSpPr>
          <p:cNvPr id="34" name="Text 32"/>
          <p:cNvSpPr/>
          <p:nvPr/>
        </p:nvSpPr>
        <p:spPr>
          <a:xfrm>
            <a:off x="6217920" y="3706368"/>
            <a:ext cx="23164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Per Session</a:t>
            </a:r>
            <a:endParaRPr lang="en-US" sz="1333" dirty="0"/>
          </a:p>
        </p:txBody>
      </p:sp>
      <p:sp>
        <p:nvSpPr>
          <p:cNvPr id="35" name="Shape 33"/>
          <p:cNvSpPr/>
          <p:nvPr/>
        </p:nvSpPr>
        <p:spPr>
          <a:xfrm>
            <a:off x="8595361" y="3816096"/>
            <a:ext cx="1665863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r>
              <a:rPr lang="en-US" sz="1867" dirty="0"/>
              <a:t>.51</a:t>
            </a:r>
          </a:p>
        </p:txBody>
      </p:sp>
      <p:sp>
        <p:nvSpPr>
          <p:cNvPr id="37" name="Text 35"/>
          <p:cNvSpPr/>
          <p:nvPr/>
        </p:nvSpPr>
        <p:spPr>
          <a:xfrm>
            <a:off x="6217920" y="4389120"/>
            <a:ext cx="23164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Usage</a:t>
            </a:r>
            <a:endParaRPr lang="en-US" sz="1333" dirty="0"/>
          </a:p>
        </p:txBody>
      </p:sp>
      <p:sp>
        <p:nvSpPr>
          <p:cNvPr id="38" name="Shape 36"/>
          <p:cNvSpPr/>
          <p:nvPr/>
        </p:nvSpPr>
        <p:spPr>
          <a:xfrm>
            <a:off x="8643692" y="4468308"/>
            <a:ext cx="1617531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r>
              <a:rPr lang="en-US" sz="2400" dirty="0"/>
              <a:t>.</a:t>
            </a:r>
            <a:r>
              <a:rPr lang="en-US" sz="1867" dirty="0"/>
              <a:t>50</a:t>
            </a:r>
          </a:p>
        </p:txBody>
      </p:sp>
      <p:sp>
        <p:nvSpPr>
          <p:cNvPr id="39" name="Text 37"/>
          <p:cNvSpPr/>
          <p:nvPr/>
        </p:nvSpPr>
        <p:spPr>
          <a:xfrm>
            <a:off x="10273851" y="4462272"/>
            <a:ext cx="633984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33" dirty="0"/>
          </a:p>
        </p:txBody>
      </p:sp>
      <p:sp>
        <p:nvSpPr>
          <p:cNvPr id="40" name="Text 38"/>
          <p:cNvSpPr/>
          <p:nvPr/>
        </p:nvSpPr>
        <p:spPr>
          <a:xfrm>
            <a:off x="6217920" y="5071872"/>
            <a:ext cx="23164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Frequency</a:t>
            </a:r>
            <a:endParaRPr lang="en-US" sz="1333" dirty="0"/>
          </a:p>
        </p:txBody>
      </p:sp>
      <p:sp>
        <p:nvSpPr>
          <p:cNvPr id="41" name="Shape 39"/>
          <p:cNvSpPr/>
          <p:nvPr/>
        </p:nvSpPr>
        <p:spPr>
          <a:xfrm>
            <a:off x="8750983" y="5165297"/>
            <a:ext cx="1614308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r>
              <a:rPr lang="en-US" sz="1867" dirty="0"/>
              <a:t>.50</a:t>
            </a:r>
          </a:p>
        </p:txBody>
      </p:sp>
      <p:sp>
        <p:nvSpPr>
          <p:cNvPr id="43" name="Shape 41"/>
          <p:cNvSpPr/>
          <p:nvPr/>
        </p:nvSpPr>
        <p:spPr>
          <a:xfrm>
            <a:off x="442047" y="6022848"/>
            <a:ext cx="11460480" cy="829056"/>
          </a:xfrm>
          <a:prstGeom prst="rect">
            <a:avLst/>
          </a:prstGeom>
          <a:solidFill>
            <a:srgbClr val="132238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010656"/>
            <a:ext cx="438912" cy="438912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121664" y="5900928"/>
            <a:ext cx="104851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User-activity features (Login, Session, Pages) form a tightly correlated cluster (r &gt; 0.65) — a single latent construct: platform engagement. This cluster drives both LTV and churn simultaneously.</a:t>
            </a:r>
            <a:endParaRPr lang="en-US" sz="1467" dirty="0"/>
          </a:p>
        </p:txBody>
      </p:sp>
      <p:sp>
        <p:nvSpPr>
          <p:cNvPr id="46" name="Shape 24">
            <a:extLst>
              <a:ext uri="{FF2B5EF4-FFF2-40B4-BE49-F238E27FC236}">
                <a16:creationId xmlns:a16="http://schemas.microsoft.com/office/drawing/2014/main" id="{7D742B4F-F213-8555-57F4-028009416DC7}"/>
              </a:ext>
            </a:extLst>
          </p:cNvPr>
          <p:cNvSpPr/>
          <p:nvPr/>
        </p:nvSpPr>
        <p:spPr>
          <a:xfrm>
            <a:off x="6184376" y="1674155"/>
            <a:ext cx="2013857" cy="463296"/>
          </a:xfrm>
          <a:prstGeom prst="rect">
            <a:avLst/>
          </a:prstGeom>
          <a:noFill/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r>
              <a:rPr lang="en-US" sz="1867" dirty="0">
                <a:solidFill>
                  <a:schemeClr val="accent1"/>
                </a:solidFill>
              </a:rPr>
              <a:t>Total Purchases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4379" y="0"/>
            <a:ext cx="12192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8768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Churns? The Customer Risk Profile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365760" y="1072896"/>
            <a:ext cx="5364480" cy="514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365760" y="1072896"/>
            <a:ext cx="5364480" cy="6096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365760" y="1072896"/>
            <a:ext cx="53644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Customer</a:t>
            </a:r>
            <a:endParaRPr lang="en-US" sz="1867" dirty="0"/>
          </a:p>
        </p:txBody>
      </p:sp>
      <p:sp>
        <p:nvSpPr>
          <p:cNvPr id="7" name="Shape 5"/>
          <p:cNvSpPr/>
          <p:nvPr/>
        </p:nvSpPr>
        <p:spPr>
          <a:xfrm>
            <a:off x="548640" y="1853184"/>
            <a:ext cx="4998720" cy="536448"/>
          </a:xfrm>
          <a:prstGeom prst="rect">
            <a:avLst/>
          </a:prstGeom>
          <a:solidFill>
            <a:srgbClr val="FFF0F0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670560" y="1853184"/>
            <a:ext cx="347472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 Rate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320" y="1962912"/>
            <a:ext cx="316992" cy="3169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413504" y="1853184"/>
            <a:ext cx="999744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67" dirty="0"/>
          </a:p>
        </p:txBody>
      </p:sp>
      <p:sp>
        <p:nvSpPr>
          <p:cNvPr id="11" name="Shape 8"/>
          <p:cNvSpPr/>
          <p:nvPr/>
        </p:nvSpPr>
        <p:spPr>
          <a:xfrm>
            <a:off x="548640" y="2535936"/>
            <a:ext cx="4998720" cy="536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9"/>
          <p:cNvSpPr/>
          <p:nvPr/>
        </p:nvSpPr>
        <p:spPr>
          <a:xfrm>
            <a:off x="670560" y="2535936"/>
            <a:ext cx="347472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Calls</a:t>
            </a:r>
            <a:endParaRPr lang="en-US" sz="16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320" y="2645664"/>
            <a:ext cx="316992" cy="3169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13504" y="2535936"/>
            <a:ext cx="999744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67" dirty="0"/>
          </a:p>
        </p:txBody>
      </p:sp>
      <p:sp>
        <p:nvSpPr>
          <p:cNvPr id="15" name="Shape 11"/>
          <p:cNvSpPr/>
          <p:nvPr/>
        </p:nvSpPr>
        <p:spPr>
          <a:xfrm>
            <a:off x="548640" y="3218688"/>
            <a:ext cx="4998720" cy="536448"/>
          </a:xfrm>
          <a:prstGeom prst="rect">
            <a:avLst/>
          </a:prstGeom>
          <a:solidFill>
            <a:srgbClr val="FFF0F0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2"/>
          <p:cNvSpPr/>
          <p:nvPr/>
        </p:nvSpPr>
        <p:spPr>
          <a:xfrm>
            <a:off x="670560" y="3218688"/>
            <a:ext cx="347472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Frequency</a:t>
            </a:r>
            <a:endParaRPr lang="en-US" sz="16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320" y="3328416"/>
            <a:ext cx="316992" cy="3169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13504" y="3218688"/>
            <a:ext cx="999744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67" dirty="0"/>
          </a:p>
        </p:txBody>
      </p:sp>
      <p:sp>
        <p:nvSpPr>
          <p:cNvPr id="19" name="Shape 14"/>
          <p:cNvSpPr/>
          <p:nvPr/>
        </p:nvSpPr>
        <p:spPr>
          <a:xfrm>
            <a:off x="548640" y="3901440"/>
            <a:ext cx="4998720" cy="536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5"/>
          <p:cNvSpPr/>
          <p:nvPr/>
        </p:nvSpPr>
        <p:spPr>
          <a:xfrm>
            <a:off x="670560" y="3901440"/>
            <a:ext cx="347472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</a:t>
            </a:r>
            <a:endParaRPr lang="en-US" sz="16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320" y="4011168"/>
            <a:ext cx="316992" cy="3169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413504" y="3901440"/>
            <a:ext cx="999744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67" dirty="0"/>
          </a:p>
        </p:txBody>
      </p:sp>
      <p:sp>
        <p:nvSpPr>
          <p:cNvPr id="23" name="Shape 17"/>
          <p:cNvSpPr/>
          <p:nvPr/>
        </p:nvSpPr>
        <p:spPr>
          <a:xfrm>
            <a:off x="548640" y="4584192"/>
            <a:ext cx="4998720" cy="536448"/>
          </a:xfrm>
          <a:prstGeom prst="rect">
            <a:avLst/>
          </a:prstGeom>
          <a:solidFill>
            <a:srgbClr val="FFF0F0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18"/>
          <p:cNvSpPr/>
          <p:nvPr/>
        </p:nvSpPr>
        <p:spPr>
          <a:xfrm>
            <a:off x="670560" y="4584192"/>
            <a:ext cx="347472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Purchases</a:t>
            </a:r>
            <a:endParaRPr lang="en-US" sz="16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320" y="4693920"/>
            <a:ext cx="316992" cy="31699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413504" y="4584192"/>
            <a:ext cx="999744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67" dirty="0"/>
          </a:p>
        </p:txBody>
      </p:sp>
      <p:sp>
        <p:nvSpPr>
          <p:cNvPr id="27" name="Shape 20"/>
          <p:cNvSpPr/>
          <p:nvPr/>
        </p:nvSpPr>
        <p:spPr>
          <a:xfrm>
            <a:off x="548640" y="5266944"/>
            <a:ext cx="4998720" cy="536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1"/>
          <p:cNvSpPr/>
          <p:nvPr/>
        </p:nvSpPr>
        <p:spPr>
          <a:xfrm>
            <a:off x="670560" y="5266944"/>
            <a:ext cx="347472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Open Rate</a:t>
            </a:r>
            <a:endParaRPr lang="en-US" sz="16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320" y="5376672"/>
            <a:ext cx="316992" cy="31699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413504" y="5266944"/>
            <a:ext cx="999744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67" dirty="0"/>
          </a:p>
        </p:txBody>
      </p:sp>
      <p:sp>
        <p:nvSpPr>
          <p:cNvPr id="31" name="Shape 23"/>
          <p:cNvSpPr/>
          <p:nvPr/>
        </p:nvSpPr>
        <p:spPr>
          <a:xfrm>
            <a:off x="6461760" y="1072896"/>
            <a:ext cx="5364480" cy="514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2" name="Shape 24"/>
          <p:cNvSpPr/>
          <p:nvPr/>
        </p:nvSpPr>
        <p:spPr>
          <a:xfrm>
            <a:off x="6461760" y="1072896"/>
            <a:ext cx="5364480" cy="6096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25"/>
          <p:cNvSpPr/>
          <p:nvPr/>
        </p:nvSpPr>
        <p:spPr>
          <a:xfrm>
            <a:off x="6461760" y="1072896"/>
            <a:ext cx="53644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</a:t>
            </a:r>
            <a:endParaRPr lang="en-US" sz="1867" dirty="0"/>
          </a:p>
        </p:txBody>
      </p:sp>
      <p:sp>
        <p:nvSpPr>
          <p:cNvPr id="34" name="Shape 26"/>
          <p:cNvSpPr/>
          <p:nvPr/>
        </p:nvSpPr>
        <p:spPr>
          <a:xfrm>
            <a:off x="6644640" y="1853184"/>
            <a:ext cx="4998720" cy="536448"/>
          </a:xfrm>
          <a:prstGeom prst="rect">
            <a:avLst/>
          </a:prstGeom>
          <a:solidFill>
            <a:srgbClr val="F0FF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27"/>
          <p:cNvSpPr/>
          <p:nvPr/>
        </p:nvSpPr>
        <p:spPr>
          <a:xfrm>
            <a:off x="6766560" y="1853184"/>
            <a:ext cx="347472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 Rate</a:t>
            </a:r>
            <a:endParaRPr lang="en-US" sz="16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320" y="1962912"/>
            <a:ext cx="316992" cy="31699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509504" y="1853184"/>
            <a:ext cx="999744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67" dirty="0"/>
          </a:p>
        </p:txBody>
      </p:sp>
      <p:sp>
        <p:nvSpPr>
          <p:cNvPr id="38" name="Shape 29"/>
          <p:cNvSpPr/>
          <p:nvPr/>
        </p:nvSpPr>
        <p:spPr>
          <a:xfrm>
            <a:off x="6644640" y="2535936"/>
            <a:ext cx="4998720" cy="536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Text 30"/>
          <p:cNvSpPr/>
          <p:nvPr/>
        </p:nvSpPr>
        <p:spPr>
          <a:xfrm>
            <a:off x="6766560" y="2535936"/>
            <a:ext cx="347472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Calls</a:t>
            </a:r>
            <a:endParaRPr lang="en-US" sz="16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320" y="2645664"/>
            <a:ext cx="316992" cy="31699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0509504" y="2535936"/>
            <a:ext cx="999744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67" dirty="0"/>
          </a:p>
        </p:txBody>
      </p:sp>
      <p:sp>
        <p:nvSpPr>
          <p:cNvPr id="42" name="Shape 32"/>
          <p:cNvSpPr/>
          <p:nvPr/>
        </p:nvSpPr>
        <p:spPr>
          <a:xfrm>
            <a:off x="6644640" y="3218688"/>
            <a:ext cx="4998720" cy="536448"/>
          </a:xfrm>
          <a:prstGeom prst="rect">
            <a:avLst/>
          </a:prstGeom>
          <a:solidFill>
            <a:srgbClr val="F0FF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Text 33"/>
          <p:cNvSpPr/>
          <p:nvPr/>
        </p:nvSpPr>
        <p:spPr>
          <a:xfrm>
            <a:off x="6766560" y="3218688"/>
            <a:ext cx="347472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Frequency</a:t>
            </a:r>
            <a:endParaRPr lang="en-US" sz="160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20" y="3328416"/>
            <a:ext cx="316992" cy="316992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0509504" y="3218688"/>
            <a:ext cx="999744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67" dirty="0"/>
          </a:p>
        </p:txBody>
      </p:sp>
      <p:sp>
        <p:nvSpPr>
          <p:cNvPr id="46" name="Shape 35"/>
          <p:cNvSpPr/>
          <p:nvPr/>
        </p:nvSpPr>
        <p:spPr>
          <a:xfrm>
            <a:off x="6644640" y="3901440"/>
            <a:ext cx="4998720" cy="536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Text 36"/>
          <p:cNvSpPr/>
          <p:nvPr/>
        </p:nvSpPr>
        <p:spPr>
          <a:xfrm>
            <a:off x="6766560" y="3901440"/>
            <a:ext cx="347472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</a:t>
            </a:r>
            <a:endParaRPr lang="en-US" sz="16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20" y="4011168"/>
            <a:ext cx="316992" cy="316992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10509504" y="3901440"/>
            <a:ext cx="999744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67" dirty="0"/>
          </a:p>
        </p:txBody>
      </p:sp>
      <p:sp>
        <p:nvSpPr>
          <p:cNvPr id="50" name="Shape 38"/>
          <p:cNvSpPr/>
          <p:nvPr/>
        </p:nvSpPr>
        <p:spPr>
          <a:xfrm>
            <a:off x="6644640" y="4584192"/>
            <a:ext cx="4998720" cy="536448"/>
          </a:xfrm>
          <a:prstGeom prst="rect">
            <a:avLst/>
          </a:prstGeom>
          <a:solidFill>
            <a:srgbClr val="F0FFF8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1" name="Text 39"/>
          <p:cNvSpPr/>
          <p:nvPr/>
        </p:nvSpPr>
        <p:spPr>
          <a:xfrm>
            <a:off x="6766560" y="4584192"/>
            <a:ext cx="347472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Purchases</a:t>
            </a:r>
            <a:endParaRPr lang="en-US" sz="1600" dirty="0"/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20" y="4693920"/>
            <a:ext cx="316992" cy="316992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10509504" y="4584192"/>
            <a:ext cx="999744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67" dirty="0"/>
          </a:p>
        </p:txBody>
      </p:sp>
      <p:sp>
        <p:nvSpPr>
          <p:cNvPr id="54" name="Shape 41"/>
          <p:cNvSpPr/>
          <p:nvPr/>
        </p:nvSpPr>
        <p:spPr>
          <a:xfrm>
            <a:off x="6644640" y="5266944"/>
            <a:ext cx="4998720" cy="536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5" name="Text 42"/>
          <p:cNvSpPr/>
          <p:nvPr/>
        </p:nvSpPr>
        <p:spPr>
          <a:xfrm>
            <a:off x="6766560" y="5266944"/>
            <a:ext cx="347472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Open Rate</a:t>
            </a:r>
            <a:endParaRPr lang="en-US" sz="1600" dirty="0"/>
          </a:p>
        </p:txBody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20" y="5376672"/>
            <a:ext cx="316992" cy="316992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10509504" y="5266944"/>
            <a:ext cx="999744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67" dirty="0"/>
          </a:p>
        </p:txBody>
      </p:sp>
      <p:sp>
        <p:nvSpPr>
          <p:cNvPr id="58" name="Shape 44"/>
          <p:cNvSpPr/>
          <p:nvPr/>
        </p:nvSpPr>
        <p:spPr>
          <a:xfrm>
            <a:off x="5608320" y="3316224"/>
            <a:ext cx="975360" cy="9753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9" name="Text 45"/>
          <p:cNvSpPr/>
          <p:nvPr/>
        </p:nvSpPr>
        <p:spPr>
          <a:xfrm>
            <a:off x="5608320" y="3316224"/>
            <a:ext cx="97536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67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8768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Business Insights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594360" y="1072896"/>
            <a:ext cx="3474720" cy="2706624"/>
          </a:xfrm>
          <a:prstGeom prst="rect">
            <a:avLst/>
          </a:prstGeom>
          <a:solidFill>
            <a:srgbClr val="132238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594360" y="1072896"/>
            <a:ext cx="3474720" cy="8534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740664" y="119481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933" dirty="0"/>
          </a:p>
        </p:txBody>
      </p:sp>
      <p:sp>
        <p:nvSpPr>
          <p:cNvPr id="7" name="Text 5"/>
          <p:cNvSpPr/>
          <p:nvPr/>
        </p:nvSpPr>
        <p:spPr>
          <a:xfrm>
            <a:off x="740664" y="1731264"/>
            <a:ext cx="3182112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Calls = Churn Signal #1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0664" y="2365248"/>
            <a:ext cx="31821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Cart_Abandonment_Rate (r=0.289) and Customer_Service_Calls (r=0.278) are the strongest churn predictors. High support volume signals unresolved issues before churn happens.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4358640" y="1072896"/>
            <a:ext cx="3474720" cy="2706624"/>
          </a:xfrm>
          <a:prstGeom prst="rect">
            <a:avLst/>
          </a:prstGeom>
          <a:solidFill>
            <a:srgbClr val="13223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4358640" y="1072896"/>
            <a:ext cx="347472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4504944" y="119481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933" dirty="0"/>
          </a:p>
        </p:txBody>
      </p:sp>
      <p:sp>
        <p:nvSpPr>
          <p:cNvPr id="12" name="Text 10"/>
          <p:cNvSpPr/>
          <p:nvPr/>
        </p:nvSpPr>
        <p:spPr>
          <a:xfrm>
            <a:off x="4504944" y="1731264"/>
            <a:ext cx="3182112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= Retention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04944" y="2365248"/>
            <a:ext cx="31821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show significantly lower Login_Frequency, shorter Session_Duration, and fewer Pages/Session. Active platform usage is the single best retention signal.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8122920" y="1158240"/>
            <a:ext cx="3474720" cy="2706624"/>
          </a:xfrm>
          <a:prstGeom prst="rect">
            <a:avLst/>
          </a:prstGeom>
          <a:solidFill>
            <a:srgbClr val="132238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122920" y="1072896"/>
            <a:ext cx="3474720" cy="8534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8269224" y="119481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933" dirty="0"/>
          </a:p>
        </p:txBody>
      </p:sp>
      <p:sp>
        <p:nvSpPr>
          <p:cNvPr id="17" name="Text 15"/>
          <p:cNvSpPr/>
          <p:nvPr/>
        </p:nvSpPr>
        <p:spPr>
          <a:xfrm>
            <a:off x="8269224" y="1731264"/>
            <a:ext cx="3182112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and Engagement are Inseparable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69224" y="2365248"/>
            <a:ext cx="31821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Total_Purchases (r=0.625) and Average_Order_Value (r=0.586) dominate LTV. High-LTV customers also show longer sessions and lower abandonment — loyalty and spend move together.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1849120" y="4023360"/>
            <a:ext cx="3474720" cy="2706624"/>
          </a:xfrm>
          <a:prstGeom prst="rect">
            <a:avLst/>
          </a:prstGeom>
          <a:solidFill>
            <a:srgbClr val="132238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0" name="Shape 18"/>
          <p:cNvSpPr/>
          <p:nvPr/>
        </p:nvSpPr>
        <p:spPr>
          <a:xfrm>
            <a:off x="1849120" y="4023360"/>
            <a:ext cx="3474720" cy="853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1995424" y="4145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933" dirty="0"/>
          </a:p>
        </p:txBody>
      </p:sp>
      <p:sp>
        <p:nvSpPr>
          <p:cNvPr id="22" name="Text 20"/>
          <p:cNvSpPr/>
          <p:nvPr/>
        </p:nvSpPr>
        <p:spPr>
          <a:xfrm>
            <a:off x="1995424" y="4681728"/>
            <a:ext cx="3182112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Don't Drive Churn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95424" y="5315712"/>
            <a:ext cx="31821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Country, City, and Signup_Quarter show near-zero correlation with both Churned and LTV. Behavioral features — not who customers are — determine their value.</a:t>
            </a:r>
            <a:endParaRPr lang="en-US" sz="1333" dirty="0"/>
          </a:p>
        </p:txBody>
      </p:sp>
      <p:sp>
        <p:nvSpPr>
          <p:cNvPr id="24" name="Shape 22"/>
          <p:cNvSpPr/>
          <p:nvPr/>
        </p:nvSpPr>
        <p:spPr>
          <a:xfrm>
            <a:off x="6868160" y="4023360"/>
            <a:ext cx="3474720" cy="2706624"/>
          </a:xfrm>
          <a:prstGeom prst="rect">
            <a:avLst/>
          </a:prstGeom>
          <a:solidFill>
            <a:srgbClr val="132238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6868160" y="4023360"/>
            <a:ext cx="3474720" cy="853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7014464" y="4145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933" dirty="0"/>
          </a:p>
        </p:txBody>
      </p:sp>
      <p:sp>
        <p:nvSpPr>
          <p:cNvPr id="27" name="Text 25"/>
          <p:cNvSpPr/>
          <p:nvPr/>
        </p:nvSpPr>
        <p:spPr>
          <a:xfrm>
            <a:off x="7014464" y="4681728"/>
            <a:ext cx="3182112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Cluster = Dimensionality Opportunity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14464" y="5315712"/>
            <a:ext cx="31821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Login_Frequency, Session_Duration, and Pages_Per_Session are tightly correlated (r &gt; 0.65). They measure one latent construct — platform engagement — making PCA viable.</a:t>
            </a:r>
            <a:endParaRPr lang="en-US" sz="1333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487680" y="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Roadmap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426720" y="1097280"/>
            <a:ext cx="3535680" cy="4657344"/>
          </a:xfrm>
          <a:prstGeom prst="rect">
            <a:avLst/>
          </a:prstGeom>
          <a:solidFill>
            <a:srgbClr val="132238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426720" y="1097280"/>
            <a:ext cx="3535680" cy="9753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573024" y="1292352"/>
            <a:ext cx="3243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2133" dirty="0"/>
          </a:p>
        </p:txBody>
      </p:sp>
      <p:sp>
        <p:nvSpPr>
          <p:cNvPr id="7" name="Text 5"/>
          <p:cNvSpPr/>
          <p:nvPr/>
        </p:nvSpPr>
        <p:spPr>
          <a:xfrm>
            <a:off x="573024" y="1767840"/>
            <a:ext cx="3243072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467" dirty="0"/>
          </a:p>
        </p:txBody>
      </p:sp>
      <p:sp>
        <p:nvSpPr>
          <p:cNvPr id="8" name="Shape 6"/>
          <p:cNvSpPr/>
          <p:nvPr/>
        </p:nvSpPr>
        <p:spPr>
          <a:xfrm>
            <a:off x="573024" y="2267712"/>
            <a:ext cx="3243072" cy="3657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573024" y="2414016"/>
            <a:ext cx="3243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597408" y="3182112"/>
            <a:ext cx="29260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2667" dirty="0"/>
          </a:p>
        </p:txBody>
      </p:sp>
      <p:sp>
        <p:nvSpPr>
          <p:cNvPr id="18" name="Shape 16"/>
          <p:cNvSpPr/>
          <p:nvPr/>
        </p:nvSpPr>
        <p:spPr>
          <a:xfrm>
            <a:off x="4267200" y="1097280"/>
            <a:ext cx="3535680" cy="4657344"/>
          </a:xfrm>
          <a:prstGeom prst="rect">
            <a:avLst/>
          </a:prstGeom>
          <a:solidFill>
            <a:srgbClr val="132238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4267200" y="1097280"/>
            <a:ext cx="3535680" cy="9753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4413504" y="1292352"/>
            <a:ext cx="3243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Lifetime_Value</a:t>
            </a:r>
            <a:endParaRPr lang="en-US" sz="2133" dirty="0"/>
          </a:p>
        </p:txBody>
      </p:sp>
      <p:sp>
        <p:nvSpPr>
          <p:cNvPr id="21" name="Text 19"/>
          <p:cNvSpPr/>
          <p:nvPr/>
        </p:nvSpPr>
        <p:spPr>
          <a:xfrm>
            <a:off x="4413504" y="1767840"/>
            <a:ext cx="3243072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467" dirty="0"/>
          </a:p>
        </p:txBody>
      </p:sp>
      <p:sp>
        <p:nvSpPr>
          <p:cNvPr id="22" name="Shape 20"/>
          <p:cNvSpPr/>
          <p:nvPr/>
        </p:nvSpPr>
        <p:spPr>
          <a:xfrm>
            <a:off x="4413504" y="2267712"/>
            <a:ext cx="3243072" cy="3657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4413504" y="2414016"/>
            <a:ext cx="3243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</a:t>
            </a:r>
            <a:endParaRPr lang="en-US" sz="1467" dirty="0"/>
          </a:p>
        </p:txBody>
      </p:sp>
      <p:sp>
        <p:nvSpPr>
          <p:cNvPr id="27" name="Text 25"/>
          <p:cNvSpPr/>
          <p:nvPr/>
        </p:nvSpPr>
        <p:spPr>
          <a:xfrm>
            <a:off x="4486656" y="3246556"/>
            <a:ext cx="29260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Regressor</a:t>
            </a:r>
            <a:endParaRPr lang="en-US" sz="2667" dirty="0"/>
          </a:p>
        </p:txBody>
      </p:sp>
      <p:sp>
        <p:nvSpPr>
          <p:cNvPr id="30" name="Shape 28"/>
          <p:cNvSpPr/>
          <p:nvPr/>
        </p:nvSpPr>
        <p:spPr>
          <a:xfrm>
            <a:off x="8119872" y="1085088"/>
            <a:ext cx="3535680" cy="4657344"/>
          </a:xfrm>
          <a:prstGeom prst="rect">
            <a:avLst/>
          </a:prstGeom>
          <a:solidFill>
            <a:srgbClr val="132238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1" name="Shape 29"/>
          <p:cNvSpPr/>
          <p:nvPr/>
        </p:nvSpPr>
        <p:spPr>
          <a:xfrm>
            <a:off x="8107680" y="1097280"/>
            <a:ext cx="3535680" cy="9753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Text 30"/>
          <p:cNvSpPr/>
          <p:nvPr/>
        </p:nvSpPr>
        <p:spPr>
          <a:xfrm>
            <a:off x="8253984" y="1292352"/>
            <a:ext cx="3243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LTV_Segment</a:t>
            </a:r>
            <a:endParaRPr lang="en-US" sz="2133" dirty="0"/>
          </a:p>
        </p:txBody>
      </p:sp>
      <p:sp>
        <p:nvSpPr>
          <p:cNvPr id="33" name="Text 31"/>
          <p:cNvSpPr/>
          <p:nvPr/>
        </p:nvSpPr>
        <p:spPr>
          <a:xfrm>
            <a:off x="8253984" y="1767840"/>
            <a:ext cx="3243072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Classification</a:t>
            </a:r>
            <a:endParaRPr lang="en-US" sz="1467" dirty="0"/>
          </a:p>
        </p:txBody>
      </p:sp>
      <p:sp>
        <p:nvSpPr>
          <p:cNvPr id="34" name="Shape 32"/>
          <p:cNvSpPr/>
          <p:nvPr/>
        </p:nvSpPr>
        <p:spPr>
          <a:xfrm>
            <a:off x="8253984" y="2267712"/>
            <a:ext cx="3243072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8253984" y="2414016"/>
            <a:ext cx="3243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</a:t>
            </a:r>
            <a:endParaRPr lang="en-US" sz="1467" dirty="0"/>
          </a:p>
        </p:txBody>
      </p:sp>
      <p:sp>
        <p:nvSpPr>
          <p:cNvPr id="37" name="Text 35"/>
          <p:cNvSpPr/>
          <p:nvPr/>
        </p:nvSpPr>
        <p:spPr>
          <a:xfrm>
            <a:off x="8412480" y="3194304"/>
            <a:ext cx="29260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Logistic Regression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365760" y="6096000"/>
            <a:ext cx="11460480" cy="609600"/>
          </a:xfrm>
          <a:prstGeom prst="rect">
            <a:avLst/>
          </a:prstGeom>
          <a:solidFill>
            <a:srgbClr val="13223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193536"/>
            <a:ext cx="365760" cy="36576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036320" y="6096000"/>
            <a:ext cx="106070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Apply transformations → Train baseline models → Cross-validate → Compare ROC-AUC &amp; RMSE across model families</a:t>
            </a:r>
            <a:endParaRPr lang="en-US" sz="1467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9835D2-008E-E540-0C7C-EE5BFF49C5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2726"/>
            <a:ext cx="12192000" cy="595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211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692A88-0670-F74F-2058-597FB7C4F2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0" y="1023937"/>
            <a:ext cx="12192680" cy="583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966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B8FC0E0-AD2C-0CAB-AF1E-9554AB941E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4218"/>
            <a:ext cx="12192000" cy="59744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E76CD5-2793-4B40-12C0-F107C44535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187" y="3000374"/>
            <a:ext cx="2899626" cy="32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108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1626</Words>
  <Application>Microsoft Office PowerPoint</Application>
  <PresentationFormat>Widescreen</PresentationFormat>
  <Paragraphs>490</Paragraphs>
  <Slides>28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Barrin, eman 81703008</dc:creator>
  <cp:lastModifiedBy>Barrin, eman 81703008</cp:lastModifiedBy>
  <cp:revision>10</cp:revision>
  <dcterms:created xsi:type="dcterms:W3CDTF">2026-03-29T15:02:05Z</dcterms:created>
  <dcterms:modified xsi:type="dcterms:W3CDTF">2026-03-30T18:33:45Z</dcterms:modified>
</cp:coreProperties>
</file>