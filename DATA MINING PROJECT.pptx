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50292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777240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02920" y="1609344"/>
            <a:ext cx="6766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02920" y="2487168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Exploratory Data Analysis — 20 Questions, 3 ML Targets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2920" y="2971800"/>
            <a:ext cx="438912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3127248"/>
            <a:ext cx="2606040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3209544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33272" y="314553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44,650 Customers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337560" y="3127248"/>
            <a:ext cx="2606040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288" y="3209544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67912" y="314553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Features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172200" y="3127248"/>
            <a:ext cx="2606040" cy="530352"/>
          </a:xfrm>
          <a:prstGeom prst="rect">
            <a:avLst/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3209544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02552" y="3145536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ML Targets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57200" y="4709160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DiGiLiANS Initiative  ·  Applied AI and Data Analytics  · 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competitive e-commerce, retaining a customer costs 5× less than acquiring a new one. This EDA decodes the behavioral DNA of 44,650 customers to answer three critical business questions: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65176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08760"/>
            <a:ext cx="2651760" cy="82296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664208"/>
            <a:ext cx="640080" cy="64008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7373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3957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11480" y="27157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303580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will leave the platform next month?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00400" y="1508760"/>
            <a:ext cx="265176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508760"/>
            <a:ext cx="2651760" cy="822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06240" y="1664208"/>
            <a:ext cx="640080" cy="6400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73736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91840" y="23957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Value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291840" y="27157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337560" y="303580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revenue will each customer generate?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080760" y="1508760"/>
            <a:ext cx="265176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80760" y="1508760"/>
            <a:ext cx="2651760" cy="82296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086600" y="1664208"/>
            <a:ext cx="640080" cy="6400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73736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172200" y="23957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Segmentation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172200" y="27157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 Classification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217920" y="3035808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 value customer tiering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91440" y="4572000"/>
            <a:ext cx="173736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 Loading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1783080" y="4809744"/>
            <a:ext cx="109728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1920240" y="4572000"/>
            <a:ext cx="173736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Cleaning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3611880" y="4809744"/>
            <a:ext cx="109728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749040" y="4572000"/>
            <a:ext cx="173736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Feature Engineering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5440680" y="4809744"/>
            <a:ext cx="109728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5577840" y="4572000"/>
            <a:ext cx="173736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EDA (Q1–Q20)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7269480" y="4809744"/>
            <a:ext cx="109728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7406640" y="4572000"/>
            <a:ext cx="173736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Modeling Roadmap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20240" cy="1371600"/>
          </a:xfrm>
          <a:prstGeom prst="rect">
            <a:avLst/>
          </a:prstGeom>
          <a:solidFill>
            <a:srgbClr val="13223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926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44,650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50592" y="822960"/>
            <a:ext cx="1920240" cy="1371600"/>
          </a:xfrm>
          <a:prstGeom prst="rect">
            <a:avLst/>
          </a:prstGeom>
          <a:solidFill>
            <a:srgbClr val="132238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96926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50592" y="1554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822960"/>
            <a:ext cx="1920240" cy="1371600"/>
          </a:xfrm>
          <a:prstGeom prst="rect">
            <a:avLst/>
          </a:prstGeom>
          <a:solidFill>
            <a:srgbClr val="132238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96926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26864" y="1554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 w/ Missing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03136" y="822960"/>
            <a:ext cx="1920240" cy="1371600"/>
          </a:xfrm>
          <a:prstGeom prst="rect">
            <a:avLst/>
          </a:prstGeom>
          <a:solidFill>
            <a:srgbClr val="132238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96926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803136" y="1554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Targets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3774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Domains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74320" y="2788920"/>
            <a:ext cx="64008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889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31720" y="27889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Country, City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310128"/>
            <a:ext cx="64008" cy="3474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101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Behavior: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31720" y="33101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Freq, Session Duration, Pages/Session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831336"/>
            <a:ext cx="64008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3133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History: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331720" y="383133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Purchases, AOV, Cart Abandonment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352544"/>
            <a:ext cx="64008" cy="34747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35254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Risk: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331720" y="435254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Calls, Returns Rate, Discount Usage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12080" y="2304288"/>
            <a:ext cx="3566160" cy="2615184"/>
          </a:xfrm>
          <a:prstGeom prst="rect">
            <a:avLst/>
          </a:prstGeom>
          <a:solidFill>
            <a:srgbClr val="13223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394960" y="24231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Targets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394960" y="2880360"/>
            <a:ext cx="310896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2880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32320" y="28803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0/1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94960" y="3520440"/>
            <a:ext cx="310896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3520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Lifetime_Value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132320" y="35204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Regression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394960" y="4160520"/>
            <a:ext cx="310896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0" y="4160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LTV_Segment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132320" y="41605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Cleaning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Identified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9903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325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columns with missing values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160020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float columns handled via median/mean imputation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" y="2029968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4884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20756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columns wrong data types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60120" y="235000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Float64 storing integers: Age, Purchases, Reviews, etc.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0040" y="2779776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9864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28254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negative values found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960120" y="309981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values in numeric columns flagged and removed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20040" y="3529584"/>
            <a:ext cx="41148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48456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0120" y="357530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rows found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960120" y="384962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integrity fully confirmed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709160" y="804672"/>
            <a:ext cx="4114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4892040" y="9144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Strategy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4846320" y="1389888"/>
            <a:ext cx="64008" cy="62179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029200" y="138988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Rows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029200" y="1645920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Service Calls, Payment Diversity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5029200" y="1847088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Critical features — tiny missing %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846320" y="2185416"/>
            <a:ext cx="64008" cy="6217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029200" y="218541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Fill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029200" y="2441448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Purchase, Returns Rate, Reviews, Wishlist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5029200" y="2642616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Right-skewed (skew &gt; 0.9) — median is robust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846320" y="2980944"/>
            <a:ext cx="64008" cy="6217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029200" y="298094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Fill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5029200" y="3236976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Duration, Pages, Email Open Rate, App Usage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5029200" y="343814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Near-normal — mean is appropriate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4846320" y="3776472"/>
            <a:ext cx="64008" cy="6217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029200" y="377647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Int64 Convert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5029200" y="4032504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Purchases, Reviews, Wishlist, Service Calls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5029200" y="42336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Whole-number semantic correction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365760" y="4709160"/>
            <a:ext cx="84124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dataset: 44,650 rows × 26 columns  —  Zero missing values remaining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Findings — Feature Correlations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Churn Predictors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243584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Calls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51760" y="1325880"/>
            <a:ext cx="2491609" cy="24688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98233" y="129844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755648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Abandonment Rate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1837944"/>
            <a:ext cx="2396773" cy="24688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03397" y="181051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226771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Per Session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51760" y="2350008"/>
            <a:ext cx="1922591" cy="24688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9215" y="2322576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2779776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Duration Avg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51760" y="2862072"/>
            <a:ext cx="1879484" cy="24688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6108" y="283464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329184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Open Rate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651760" y="3374136"/>
            <a:ext cx="1836376" cy="24688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43000" y="3346704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3803904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Usage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51760" y="3886200"/>
            <a:ext cx="1810512" cy="24688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17136" y="385876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26280" y="804672"/>
            <a:ext cx="36576" cy="3493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LTV Predictors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63440" y="1243584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Purchases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46520" y="1325880"/>
            <a:ext cx="1510393" cy="24688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02633" y="1298448"/>
            <a:ext cx="4754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63440" y="175564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46520" y="1837944"/>
            <a:ext cx="1416144" cy="24688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08384" y="1810512"/>
            <a:ext cx="4754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2267712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Duration Avg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46520" y="2350008"/>
            <a:ext cx="1307396" cy="2468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99636" y="2322576"/>
            <a:ext cx="4754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63440" y="2779776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Per Session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46520" y="2862072"/>
            <a:ext cx="1249397" cy="2468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41637" y="2834640"/>
            <a:ext cx="4754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63440" y="329184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Usage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46520" y="3374136"/>
            <a:ext cx="1213148" cy="2468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05388" y="3346704"/>
            <a:ext cx="4754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663440" y="3803904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Frequency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46520" y="3886200"/>
            <a:ext cx="1210731" cy="2468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02971" y="3858768"/>
            <a:ext cx="47548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4407408"/>
            <a:ext cx="8595360" cy="621792"/>
          </a:xfrm>
          <a:prstGeom prst="rect">
            <a:avLst/>
          </a:prstGeom>
          <a:solidFill>
            <a:srgbClr val="132238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507992"/>
            <a:ext cx="329184" cy="329184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841248" y="4425696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User-activity features (Login, Session, Pages) form a tightly correlated cluster (r &gt; 0.65) — a single latent construct: platform engagement. This cluster drives both LTV and churn simultaneously.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Churns? The Customer Risk Profile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023360" cy="4572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Customer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389888"/>
            <a:ext cx="3749040" cy="402336"/>
          </a:xfrm>
          <a:prstGeom prst="rect">
            <a:avLst/>
          </a:prstGeom>
          <a:solidFill>
            <a:srgbClr val="FFF0F0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89888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Abandonment Rate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1472184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310128" y="1389888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" y="1901952"/>
            <a:ext cx="37490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90195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Calls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98424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10128" y="1901952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11480" y="2414016"/>
            <a:ext cx="3749040" cy="402336"/>
          </a:xfrm>
          <a:prstGeom prst="rect">
            <a:avLst/>
          </a:prstGeom>
          <a:solidFill>
            <a:srgbClr val="FFF0F0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2920" y="2414016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Frequency</a:t>
            </a:r>
            <a:endParaRPr lang="en-US" sz="1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2496312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310128" y="2414016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11480" y="2926080"/>
            <a:ext cx="37490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02920" y="2926080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Duration</a:t>
            </a:r>
            <a:endParaRPr lang="en-US" sz="1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300837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310128" y="2926080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11480" y="3438144"/>
            <a:ext cx="3749040" cy="402336"/>
          </a:xfrm>
          <a:prstGeom prst="rect">
            <a:avLst/>
          </a:prstGeom>
          <a:solidFill>
            <a:srgbClr val="FFF0F0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02920" y="3438144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Purchases</a:t>
            </a:r>
            <a:endParaRPr lang="en-US" sz="12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3520440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310128" y="3438144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411480" y="3950208"/>
            <a:ext cx="37490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502920" y="3950208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Open Rate</a:t>
            </a:r>
            <a:endParaRPr lang="en-US" sz="12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3240" y="4032504"/>
            <a:ext cx="237744" cy="23774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310128" y="3950208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4846320" y="804672"/>
            <a:ext cx="4023360" cy="3858768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4846320" y="804672"/>
            <a:ext cx="402336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4846320" y="80467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4983480" y="1389888"/>
            <a:ext cx="3749040" cy="402336"/>
          </a:xfrm>
          <a:prstGeom prst="rect">
            <a:avLst/>
          </a:prstGeom>
          <a:solidFill>
            <a:srgbClr val="F0FFF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5074920" y="1389888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Abandonment Rate</a:t>
            </a:r>
            <a:endParaRPr lang="en-US" sz="12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1472184"/>
            <a:ext cx="237744" cy="23774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882128" y="1389888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4983480" y="1901952"/>
            <a:ext cx="37490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5074920" y="1901952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Calls</a:t>
            </a:r>
            <a:endParaRPr lang="en-US" sz="120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5240" y="1984248"/>
            <a:ext cx="237744" cy="237744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7882128" y="1901952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42" name="Shape 32"/>
          <p:cNvSpPr/>
          <p:nvPr/>
        </p:nvSpPr>
        <p:spPr>
          <a:xfrm>
            <a:off x="4983480" y="2414016"/>
            <a:ext cx="3749040" cy="402336"/>
          </a:xfrm>
          <a:prstGeom prst="rect">
            <a:avLst/>
          </a:prstGeom>
          <a:solidFill>
            <a:srgbClr val="F0FFF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5074920" y="2414016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Frequency</a:t>
            </a:r>
            <a:endParaRPr lang="en-US" sz="1200" dirty="0"/>
          </a:p>
        </p:txBody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5240" y="2496312"/>
            <a:ext cx="237744" cy="237744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7882128" y="2414016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46" name="Shape 35"/>
          <p:cNvSpPr/>
          <p:nvPr/>
        </p:nvSpPr>
        <p:spPr>
          <a:xfrm>
            <a:off x="4983480" y="2926080"/>
            <a:ext cx="37490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5074920" y="2926080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Duration</a:t>
            </a:r>
            <a:endParaRPr lang="en-US" sz="1200" dirty="0"/>
          </a:p>
        </p:txBody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5240" y="3008376"/>
            <a:ext cx="237744" cy="237744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7882128" y="2926080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50" name="Shape 38"/>
          <p:cNvSpPr/>
          <p:nvPr/>
        </p:nvSpPr>
        <p:spPr>
          <a:xfrm>
            <a:off x="4983480" y="3438144"/>
            <a:ext cx="3749040" cy="402336"/>
          </a:xfrm>
          <a:prstGeom prst="rect">
            <a:avLst/>
          </a:prstGeom>
          <a:solidFill>
            <a:srgbClr val="F0FFF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5074920" y="3438144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Purchases</a:t>
            </a:r>
            <a:endParaRPr lang="en-US" sz="1200" dirty="0"/>
          </a:p>
        </p:txBody>
      </p:sp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35240" y="3520440"/>
            <a:ext cx="237744" cy="237744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7882128" y="3438144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54" name="Shape 41"/>
          <p:cNvSpPr/>
          <p:nvPr/>
        </p:nvSpPr>
        <p:spPr>
          <a:xfrm>
            <a:off x="4983480" y="3950208"/>
            <a:ext cx="37490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5" name="Text 42"/>
          <p:cNvSpPr/>
          <p:nvPr/>
        </p:nvSpPr>
        <p:spPr>
          <a:xfrm>
            <a:off x="5074920" y="3950208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Open Rate</a:t>
            </a:r>
            <a:endParaRPr lang="en-US" sz="1200" dirty="0"/>
          </a:p>
        </p:txBody>
      </p:sp>
      <p:pic>
        <p:nvPicPr>
          <p:cNvPr id="5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35240" y="4032504"/>
            <a:ext cx="237744" cy="237744"/>
          </a:xfrm>
          <a:prstGeom prst="rect">
            <a:avLst/>
          </a:prstGeom>
        </p:spPr>
      </p:pic>
      <p:sp>
        <p:nvSpPr>
          <p:cNvPr id="57" name="Text 43"/>
          <p:cNvSpPr/>
          <p:nvPr/>
        </p:nvSpPr>
        <p:spPr>
          <a:xfrm>
            <a:off x="7882128" y="3950208"/>
            <a:ext cx="7498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58" name="Shape 44"/>
          <p:cNvSpPr/>
          <p:nvPr/>
        </p:nvSpPr>
        <p:spPr>
          <a:xfrm>
            <a:off x="4206240" y="2487168"/>
            <a:ext cx="731520" cy="7315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9" name="Text 45"/>
          <p:cNvSpPr/>
          <p:nvPr/>
        </p:nvSpPr>
        <p:spPr>
          <a:xfrm>
            <a:off x="4206240" y="248716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Business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45770" y="804672"/>
            <a:ext cx="2606040" cy="2029968"/>
          </a:xfrm>
          <a:prstGeom prst="rect">
            <a:avLst/>
          </a:prstGeom>
          <a:solidFill>
            <a:srgbClr val="132238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45770" y="804672"/>
            <a:ext cx="2606040" cy="640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5498" y="89611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55498" y="1298448"/>
            <a:ext cx="2386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Calls = Churn Signal #1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5498" y="1773936"/>
            <a:ext cx="23865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Cart_Abandonment_Rate (r=0.289) and Customer_Service_Calls (r=0.278) are the strongest churn predictors. High support volume signals unresolved issues before churn happens.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8980" y="804672"/>
            <a:ext cx="2606040" cy="2029968"/>
          </a:xfrm>
          <a:prstGeom prst="rect">
            <a:avLst/>
          </a:prstGeom>
          <a:solidFill>
            <a:srgbClr val="13223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8980" y="804672"/>
            <a:ext cx="26060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8708" y="89611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78708" y="1298448"/>
            <a:ext cx="2386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= Retention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78708" y="1773936"/>
            <a:ext cx="23865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customers show significantly lower Login_Frequency, shorter Session_Duration, and fewer Pages/Session. Active platform usage is the single best retention signal.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92190" y="804672"/>
            <a:ext cx="2606040" cy="2029968"/>
          </a:xfrm>
          <a:prstGeom prst="rect">
            <a:avLst/>
          </a:prstGeom>
          <a:solidFill>
            <a:srgbClr val="132238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92190" y="804672"/>
            <a:ext cx="260604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1918" y="89611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01918" y="1298448"/>
            <a:ext cx="2386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and Engagement are Inseparable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01918" y="1773936"/>
            <a:ext cx="23865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Total_Purchases (r=0.625) and Average_Order_Value (r=0.586) dominate LTV. High-LTV customers also show longer sessions and lower abandonment — loyalty and spend move together.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386840" y="3017520"/>
            <a:ext cx="2606040" cy="2029968"/>
          </a:xfrm>
          <a:prstGeom prst="rect">
            <a:avLst/>
          </a:prstGeom>
          <a:solidFill>
            <a:srgbClr val="132238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386840" y="3017520"/>
            <a:ext cx="260604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96568" y="31089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96568" y="3511296"/>
            <a:ext cx="2386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Don't Drive Churn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96568" y="3986784"/>
            <a:ext cx="23865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Country, City, and Signup_Quarter show near-zero correlation with both Churned and LTV. Behavioral features — not who customers are — determine their value.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51120" y="3017520"/>
            <a:ext cx="2606040" cy="2029968"/>
          </a:xfrm>
          <a:prstGeom prst="rect">
            <a:avLst/>
          </a:prstGeom>
          <a:solidFill>
            <a:srgbClr val="132238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51120" y="3017520"/>
            <a:ext cx="260604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60848" y="31089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260848" y="3511296"/>
            <a:ext cx="2386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Cluster = Dimensionality Opportunity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60848" y="3986784"/>
            <a:ext cx="23865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Login_Frequency, Session_Duration, and Pages_Per_Session are tightly correlated (r &gt; 0.65). They measure one latent construct — platform engagement — making PCA viable.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 Plan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932688"/>
            <a:ext cx="457200" cy="45720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32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950976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 Transform — Skewed Features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37947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Membership_Years, Wishlist_Items, Total_Purchases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Days_Since_Last_Purchase, Returns_Rate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Product_Reviews_Written, Average_Order_Value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1148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18888" y="932688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932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67528" y="950976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Categorical Features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481328"/>
            <a:ext cx="37947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One-Hot: Gender, Signup_Quarter (low cardinality)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Encoding or Drop: Country, City (high cardinality, low signal)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1148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3035808"/>
            <a:ext cx="457200" cy="4572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035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2688" y="3054096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Targets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584448"/>
            <a:ext cx="37947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→ Already binary (0/1)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LTV_Segment → Ordinal: Low=0, Medium=1, High=2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Lifetime_Value → Apply log1p (skewed regression target)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926080"/>
            <a:ext cx="4114800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18888" y="3035808"/>
            <a:ext cx="457200" cy="45720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3035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67528" y="3054096"/>
            <a:ext cx="3337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3584448"/>
            <a:ext cx="37947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→ Logistic Regression, SVM, Neural Nets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Scaling → XGBoost, Random Forest (tree-based models)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51760" cy="3493008"/>
          </a:xfrm>
          <a:prstGeom prst="rect">
            <a:avLst/>
          </a:prstGeom>
          <a:solidFill>
            <a:srgbClr val="132238"/>
          </a:solidFill>
          <a:ln w="1270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2651760" cy="7315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969264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9768" y="132588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" y="1700784"/>
            <a:ext cx="2432304" cy="2743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810512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" y="2176272"/>
            <a:ext cx="109728" cy="10972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12140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(baseline)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" y="2615184"/>
            <a:ext cx="109728" cy="10972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5603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" y="3054096"/>
            <a:ext cx="109728" cy="10972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299923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" y="3547872"/>
            <a:ext cx="2432304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3547872"/>
            <a:ext cx="23225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ROC-AUC, F1-Score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822960"/>
            <a:ext cx="2651760" cy="3493008"/>
          </a:xfrm>
          <a:prstGeom prst="rect">
            <a:avLst/>
          </a:prstGeom>
          <a:solidFill>
            <a:srgbClr val="132238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822960"/>
            <a:ext cx="265176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969264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Lifetime_Value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10128" y="132588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10128" y="1700784"/>
            <a:ext cx="2432304" cy="274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1810512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64992" y="2176272"/>
            <a:ext cx="109728" cy="10972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47872" y="212140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(baseline)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64992" y="2615184"/>
            <a:ext cx="109728" cy="10972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47872" y="25603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Regressor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10128" y="3547872"/>
            <a:ext cx="2432304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64992" y="3547872"/>
            <a:ext cx="23225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RMSE, R² Score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0760" y="822960"/>
            <a:ext cx="2651760" cy="3493008"/>
          </a:xfrm>
          <a:prstGeom prst="rect">
            <a:avLst/>
          </a:prstGeom>
          <a:solidFill>
            <a:srgbClr val="132238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822960"/>
            <a:ext cx="265176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0488" y="969264"/>
            <a:ext cx="24323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LTV_Segment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190488" y="1325880"/>
            <a:ext cx="24323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 Classification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90488" y="1700784"/>
            <a:ext cx="2432304" cy="274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0488" y="1810512"/>
            <a:ext cx="2432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45352" y="2176272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212140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 Logistic Regression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45352" y="2615184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28232" y="25603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90488" y="3547872"/>
            <a:ext cx="2432304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45352" y="3547872"/>
            <a:ext cx="23225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Accuracy, Macro F1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" y="4572000"/>
            <a:ext cx="8595360" cy="457200"/>
          </a:xfrm>
          <a:prstGeom prst="rect">
            <a:avLst/>
          </a:prstGeom>
          <a:solidFill>
            <a:srgbClr val="13223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645152"/>
            <a:ext cx="274320" cy="27432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777240" y="45720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Apply transformations → Train baseline models → Cross-validate → Compare ROC-AUC &amp; RMSE across model families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64008" cy="50154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79992" y="64008"/>
            <a:ext cx="64008" cy="50154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Churn — Comprehensive EDA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86000" y="2487168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9748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44,650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" y="32552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Analyzed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269748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0" y="32552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Answered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69748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54880" y="32552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0" y="2697480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66560" y="325526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Targets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DiGiLiANS Initiative  ·  Applied AI and Data Analytics  ·  March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2026-03-30T07:07:46Z</dcterms:created>
  <dcterms:modified xsi:type="dcterms:W3CDTF">2026-03-30T07:07:46Z</dcterms:modified>
</cp:coreProperties>
</file>